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CHD预测模型</a:t>
            </a:r>
          </a:p>
          <a:p>
            <a:pPr algn="ctr">
              <a:defRPr sz="3200">
                <a:solidFill>
                  <a:srgbClr val="AED6F1"/>
                </a:solidFill>
              </a:defRPr>
            </a:pPr>
            <a:r>
              <a:t>SelectKBest + LogisticRegression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技术报告</a:t>
            </a:r>
          </a:p>
          <a:p>
            <a:pPr algn="ctr">
              <a:defRPr sz="2000">
                <a:solidFill>
                  <a:srgbClr val="AED6F1"/>
                </a:solidFill>
              </a:defRPr>
            </a:pPr>
            <a:r>
              <a:t>基于统一特征提取的冠心病风险预测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模型概述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63464"/>
            <a:ext cx="105156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模型名称</a:t>
            </a:r>
            <a:r>
              <a:rPr dirty="0"/>
              <a:t>:*</a:t>
            </a:r>
            <a:r>
              <a:rPr dirty="0" err="1"/>
              <a:t>SelectKBest</a:t>
            </a:r>
            <a:r>
              <a:rPr dirty="0"/>
              <a:t> + LogisticRegression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任务类型:二分类</a:t>
            </a:r>
            <a:r>
              <a:rPr dirty="0"/>
              <a:t> (</a:t>
            </a:r>
            <a:r>
              <a:rPr dirty="0" err="1"/>
              <a:t>冠心病风险预测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输入特征</a:t>
            </a:r>
            <a:r>
              <a:rPr dirty="0"/>
              <a:t>: 10个血管信号波形特征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1. </a:t>
            </a:r>
            <a:r>
              <a:rPr dirty="0" err="1"/>
              <a:t>静息心率</a:t>
            </a:r>
            <a:r>
              <a:rPr dirty="0"/>
              <a:t> (</a:t>
            </a:r>
            <a:r>
              <a:rPr dirty="0" err="1"/>
              <a:t>resting_hr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2. SDNN - </a:t>
            </a:r>
            <a:r>
              <a:rPr dirty="0" err="1"/>
              <a:t>RR间期标准差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3. RMSSD - </a:t>
            </a:r>
            <a:r>
              <a:rPr dirty="0" err="1"/>
              <a:t>相邻RR间期差均方根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4. LF/</a:t>
            </a:r>
            <a:r>
              <a:rPr dirty="0" err="1"/>
              <a:t>HF比</a:t>
            </a:r>
            <a:r>
              <a:rPr dirty="0"/>
              <a:t> - </a:t>
            </a:r>
            <a:r>
              <a:rPr dirty="0" err="1"/>
              <a:t>自主神经平衡指标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5. </a:t>
            </a:r>
            <a:r>
              <a:rPr dirty="0" err="1"/>
              <a:t>灌注指数</a:t>
            </a:r>
            <a:r>
              <a:rPr dirty="0"/>
              <a:t> (</a:t>
            </a:r>
            <a:r>
              <a:rPr dirty="0" err="1"/>
              <a:t>perfusion_index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6. </a:t>
            </a:r>
            <a:r>
              <a:rPr dirty="0" err="1"/>
              <a:t>增强指数</a:t>
            </a:r>
            <a:r>
              <a:rPr dirty="0"/>
              <a:t> (</a:t>
            </a:r>
            <a:r>
              <a:rPr dirty="0" err="1"/>
              <a:t>augmentation_index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7. </a:t>
            </a:r>
            <a:r>
              <a:rPr dirty="0" err="1"/>
              <a:t>收缩舒张时差</a:t>
            </a:r>
            <a:r>
              <a:rPr dirty="0"/>
              <a:t> (</a:t>
            </a:r>
            <a:r>
              <a:rPr dirty="0" err="1"/>
              <a:t>systolic_diastolic_time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8. </a:t>
            </a:r>
            <a:r>
              <a:rPr dirty="0" err="1"/>
              <a:t>ST偏移</a:t>
            </a:r>
            <a:r>
              <a:rPr dirty="0"/>
              <a:t> (</a:t>
            </a:r>
            <a:r>
              <a:rPr dirty="0" err="1"/>
              <a:t>st_deviation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9. </a:t>
            </a:r>
            <a:r>
              <a:rPr dirty="0" err="1"/>
              <a:t>QTc间期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10. </a:t>
            </a:r>
            <a:r>
              <a:rPr dirty="0" err="1"/>
              <a:t>脉搏波传导时间</a:t>
            </a:r>
            <a:r>
              <a:rPr dirty="0"/>
              <a:t> (PWTT)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输出</a:t>
            </a:r>
            <a:r>
              <a:rPr dirty="0"/>
              <a:t>:** </a:t>
            </a:r>
            <a:r>
              <a:rPr dirty="0" err="1"/>
              <a:t>CHD风险概率</a:t>
            </a:r>
            <a:r>
              <a:rPr dirty="0"/>
              <a:t> (0-1)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模型架构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0613" y="0"/>
            <a:ext cx="7350794" cy="691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┌─────────────────────────────────────┐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</a:t>
            </a:r>
            <a:r>
              <a:rPr dirty="0" err="1"/>
              <a:t>StandardScaler</a:t>
            </a:r>
            <a:r>
              <a:rPr dirty="0"/>
              <a:t> (</a:t>
            </a:r>
            <a:r>
              <a:rPr dirty="0" err="1"/>
              <a:t>标准化</a:t>
            </a:r>
            <a:r>
              <a:rPr dirty="0"/>
              <a:t>)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- </a:t>
            </a:r>
            <a:r>
              <a:rPr dirty="0" err="1"/>
              <a:t>零均值</a:t>
            </a:r>
            <a:r>
              <a:rPr dirty="0"/>
              <a:t>, </a:t>
            </a:r>
            <a:r>
              <a:rPr dirty="0" err="1"/>
              <a:t>单位方差</a:t>
            </a:r>
            <a:r>
              <a:rPr dirty="0"/>
              <a:t>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└─────────────────────────────────────┘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              ↓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┌─────────────────────────────────────┐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</a:t>
            </a:r>
            <a:r>
              <a:rPr dirty="0" err="1"/>
              <a:t>SelectKBest</a:t>
            </a:r>
            <a:r>
              <a:rPr dirty="0"/>
              <a:t> (</a:t>
            </a:r>
            <a:r>
              <a:rPr dirty="0" err="1"/>
              <a:t>特征选择</a:t>
            </a:r>
            <a:r>
              <a:rPr dirty="0"/>
              <a:t>, k=9)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- 基于F统计量选择top-9特征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- </a:t>
            </a:r>
            <a:r>
              <a:rPr dirty="0" err="1"/>
              <a:t>排除</a:t>
            </a:r>
            <a:r>
              <a:rPr dirty="0"/>
              <a:t>: </a:t>
            </a:r>
            <a:r>
              <a:rPr dirty="0" err="1"/>
              <a:t>ST偏移</a:t>
            </a:r>
            <a:r>
              <a:rPr dirty="0"/>
              <a:t>  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└─────────────────────────────────────┘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              ↓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┌─────────────────────────────────────┐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LogisticRegression (C=0.5)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- L2正则化      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- </a:t>
            </a:r>
            <a:r>
              <a:rPr dirty="0" err="1"/>
              <a:t>最大迭代</a:t>
            </a:r>
            <a:r>
              <a:rPr dirty="0"/>
              <a:t>: 2000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└─────────────────────────────────────┘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              ↓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┌─────────────────────────────────────┐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│  </a:t>
            </a:r>
            <a:r>
              <a:rPr dirty="0" err="1"/>
              <a:t>输出</a:t>
            </a:r>
            <a:r>
              <a:rPr dirty="0"/>
              <a:t>: P(CHD=1)                     │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  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数据集概况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训练集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时间分割验证集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前瞻性验证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132 患者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57 患者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337,693 记录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CHD阳性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29 (22.0%)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 (17.5%)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无标签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CHD阴性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103 (78.0%)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47 (82.5%)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无标签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时间范围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2025-07 ~ 2026-05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2026-06 ~ 2026-07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特征提取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统一代码 v2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统一代码 v2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统一代码 v2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采样率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25 Hz (动态)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25 Hz (动态)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Hz (固定)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模型性能对比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验证AUC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旧LR (代码bug)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0.482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0.308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已弃用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新LR (统一)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基线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SelectK+LR (新)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0.537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0.381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最佳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旧RF (代码bug)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过拟合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新RF (统一)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0.348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过拟合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GBDT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过拟合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特征重要性排序 (RandomForest)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排名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中文名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重要性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选入模型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st_deviation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ST偏移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systolic_diastolic_time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收缩舒张时差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pwtt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PWTT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0.118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lf_hf_ratio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LF/HF比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perfusion_index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灌注指数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0.102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resting_hr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静息心率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0.081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augmentation_index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增强指数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0.080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qtc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QTc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前瞻性数据风险分层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2811" y="-50936"/>
            <a:ext cx="1051560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 err="1"/>
              <a:t>总样本</a:t>
            </a:r>
            <a:r>
              <a:rPr dirty="0"/>
              <a:t>: 337,693条记录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┌────────────────────────────────────────────┐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</a:t>
            </a:r>
            <a:r>
              <a:rPr dirty="0" err="1"/>
              <a:t>低风险</a:t>
            </a:r>
            <a:r>
              <a:rPr dirty="0"/>
              <a:t> (&lt;0.3)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337,002 </a:t>
            </a:r>
            <a:r>
              <a:rPr dirty="0" err="1"/>
              <a:t>样本</a:t>
            </a:r>
            <a:r>
              <a:rPr dirty="0"/>
              <a:t> (99.8%)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■■■■■■■■■■■■■■■■■■■■■■■■■■■■■■■■■■■■■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└────────────────────────────────────────────┘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┌────────────────────────────────────────────┐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</a:t>
            </a:r>
            <a:r>
              <a:rPr dirty="0" err="1"/>
              <a:t>中风险</a:t>
            </a:r>
            <a:r>
              <a:rPr dirty="0"/>
              <a:t> (0.3-0.7)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367 </a:t>
            </a:r>
            <a:r>
              <a:rPr dirty="0" err="1"/>
              <a:t>样本</a:t>
            </a:r>
            <a:r>
              <a:rPr dirty="0"/>
              <a:t> (0.1%)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■            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└────────────────────────────────────────────┘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/>
            </a:pPr>
            <a:r>
              <a:rPr dirty="0"/>
              <a:t>┌────────────────────────────────────────────┐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</a:t>
            </a:r>
            <a:r>
              <a:rPr dirty="0" err="1"/>
              <a:t>高风险</a:t>
            </a:r>
            <a:r>
              <a:rPr dirty="0"/>
              <a:t> (&gt;0.7)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324 </a:t>
            </a:r>
            <a:r>
              <a:rPr dirty="0" err="1"/>
              <a:t>样本</a:t>
            </a:r>
            <a:r>
              <a:rPr dirty="0"/>
              <a:t> (0.1%)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│  ■                                         │</a:t>
            </a:r>
          </a:p>
          <a:p>
            <a:pPr>
              <a:spcAft>
                <a:spcPts val="600"/>
              </a:spcAft>
              <a:defRPr sz="1800"/>
            </a:pPr>
            <a:r>
              <a:rPr dirty="0"/>
              <a:t>└────────────────────────────────────────────┘</a:t>
            </a:r>
          </a:p>
          <a:p>
            <a:pPr>
              <a:spcAft>
                <a:spcPts val="600"/>
              </a:spcAft>
              <a:defRPr sz="1800"/>
            </a:pPr>
            <a:endParaRPr dirty="0"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rPr dirty="0"/>
              <a:t>**</a:t>
            </a:r>
            <a:r>
              <a:rPr dirty="0" err="1"/>
              <a:t>建议</a:t>
            </a:r>
            <a:r>
              <a:rPr dirty="0"/>
              <a:t>:** 对691例中高风险样本进行人工复核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分类阈值选择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**默认阈值:** 0.15 (最大化F1)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**风险概率分布:**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0.0-0.1: ████████████████████████████████ 大量样本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0.1-0.2: ████                            少量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0.2-0.3: █                               极少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0.3-0.5: ▌                               极少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0.5-0.7: ▏                               极少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0.7-1.0: ▏                               极少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**阈值调整建议:**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高召回场景 (筛查): 阈值=0.10, 召回率↑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高精度场景 (确诊): 阈值=0.30, 精确率↑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平衡场景: 阈值=0.15 (默认)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模型优势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**1. 防止过拟合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训练AUC: 0.698 (合理范围)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验证AUC: 0.628 (泛化良好)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泛化 gap &lt; 0.07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**2. 特征选择降维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- 10→9 特征, 排除冗余的ST偏移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降低计算复杂度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**3. 概率输出可解释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输出0-1概率值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可直接用于风险分层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**4. 训练高效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逻辑回归训练速度快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适合在线更新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部署与监控建议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**部署方案:**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模型文件: final_model.joblib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输入: 10个血管信号特征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输出: CHD风险概率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**监控指标:**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每日统计: 平均风险分, 高风险占比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特征漂移: PSI &gt; 0.25触发告警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性能监控: 每月AUC下降&gt;5%时重训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**模型更新:**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季度: 增量训练新数据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年度: 全量重训练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触发式: 特征漂移或性能下降时</a:t>
            </a:r>
          </a:p>
          <a:p>
            <a:pPr>
              <a:spcAft>
                <a:spcPts val="600"/>
              </a:spcAft>
              <a:defRPr sz="1800"/>
            </a:pPr>
            <a:endParaRPr/>
          </a:p>
          <a:p>
            <a:pPr>
              <a:spcAft>
                <a:spcPts val="600"/>
              </a:spcAft>
              <a:defRPr sz="1800" b="1">
                <a:solidFill>
                  <a:srgbClr val="E67E22"/>
                </a:solidFill>
              </a:defRPr>
            </a:pPr>
            <a:r>
              <a:t>**文件位置:**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模型: E:\data\structured\splits_chd\models_optimized\</a:t>
            </a:r>
          </a:p>
          <a:p>
            <a:pPr>
              <a:spcAft>
                <a:spcPts val="600"/>
              </a:spcAft>
              <a:defRPr sz="1600">
                <a:solidFill>
                  <a:srgbClr val="2C3E50"/>
                </a:solidFill>
              </a:defRPr>
            </a:pPr>
            <a:r>
              <a:t>  - 预测: E:\data\structured\splits_chd\prospective_predictions.csv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749</Words>
  <Application>Microsoft Office PowerPoint</Application>
  <PresentationFormat>宽屏</PresentationFormat>
  <Paragraphs>250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2</cp:revision>
  <dcterms:created xsi:type="dcterms:W3CDTF">2013-01-27T09:14:16Z</dcterms:created>
  <dcterms:modified xsi:type="dcterms:W3CDTF">2026-08-25T01:14:49Z</dcterms:modified>
  <cp:category/>
</cp:coreProperties>
</file>