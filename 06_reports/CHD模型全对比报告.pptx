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CHD预测模型全对比</a:t>
            </a:r>
          </a:p>
          <a:p>
            <a:pPr algn="ctr">
              <a:defRPr sz="2800">
                <a:solidFill>
                  <a:srgbClr val="AED6F1"/>
                </a:solidFill>
              </a:defRPr>
            </a:pPr>
            <a:r>
              <a:t>Logistic Regression / Random Forest /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统一特征提取 + 模型优化 + 前瞻性验证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13692"/>
            <a:ext cx="8808004" cy="576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数据集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训练集</a:t>
            </a:r>
            <a:r>
              <a:rPr dirty="0"/>
              <a:t>: 132患者 (CHD+ 29, 22.0%)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时间分割验证</a:t>
            </a:r>
            <a:r>
              <a:rPr dirty="0"/>
              <a:t>: 57患者 (CHD+ 10, 17.5%)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前瞻性验证</a:t>
            </a:r>
            <a:r>
              <a:rPr dirty="0"/>
              <a:t>: 337,693条记录 (</a:t>
            </a:r>
            <a:r>
              <a:rPr dirty="0" err="1"/>
              <a:t>无标签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特征</a:t>
            </a:r>
            <a:r>
              <a:rPr dirty="0"/>
              <a:t>: 10个血管信号波形特征 (</a:t>
            </a:r>
            <a:r>
              <a:rPr dirty="0" err="1"/>
              <a:t>统一提取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</a:t>
            </a:r>
            <a:r>
              <a:rPr dirty="0" err="1"/>
              <a:t>resting_hr</a:t>
            </a:r>
            <a:r>
              <a:rPr dirty="0"/>
              <a:t>, </a:t>
            </a:r>
            <a:r>
              <a:rPr dirty="0" err="1"/>
              <a:t>sdnn</a:t>
            </a:r>
            <a:r>
              <a:rPr dirty="0"/>
              <a:t>, </a:t>
            </a:r>
            <a:r>
              <a:rPr dirty="0" err="1"/>
              <a:t>rmssd</a:t>
            </a:r>
            <a:r>
              <a:rPr dirty="0"/>
              <a:t>, </a:t>
            </a:r>
            <a:r>
              <a:rPr dirty="0" err="1"/>
              <a:t>lf_hf_ratio</a:t>
            </a:r>
            <a:r>
              <a:rPr dirty="0"/>
              <a:t>, </a:t>
            </a:r>
            <a:r>
              <a:rPr dirty="0" err="1"/>
              <a:t>perfusion_index</a:t>
            </a:r>
            <a:r>
              <a:rPr dirty="0"/>
              <a:t>,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</a:t>
            </a:r>
            <a:r>
              <a:rPr dirty="0" err="1"/>
              <a:t>augmentation_index</a:t>
            </a:r>
            <a:r>
              <a:rPr dirty="0"/>
              <a:t>, </a:t>
            </a:r>
            <a:r>
              <a:rPr dirty="0" err="1"/>
              <a:t>systolic_diastolic_time</a:t>
            </a:r>
            <a:r>
              <a:rPr dirty="0"/>
              <a:t>, </a:t>
            </a:r>
            <a:r>
              <a:rPr dirty="0" err="1"/>
              <a:t>st_deviation</a:t>
            </a:r>
            <a:r>
              <a:rPr dirty="0"/>
              <a:t>, </a:t>
            </a:r>
            <a:r>
              <a:rPr dirty="0" err="1"/>
              <a:t>qtc</a:t>
            </a:r>
            <a:r>
              <a:rPr dirty="0"/>
              <a:t>, </a:t>
            </a:r>
            <a:r>
              <a:rPr dirty="0" err="1"/>
              <a:t>pwtt</a:t>
            </a: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评估指标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AUC (</a:t>
            </a:r>
            <a:r>
              <a:rPr dirty="0" err="1"/>
              <a:t>ROC曲线下面积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F1分数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交叉验证AUC</a:t>
            </a:r>
            <a:r>
              <a:rPr dirty="0"/>
              <a:t> (5折)</a:t>
            </a:r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对比模型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1. Logistic Regression (3种正则化强度)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2. Random Forest (3种深度)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3. </a:t>
            </a:r>
            <a:r>
              <a:rPr dirty="0" err="1"/>
              <a:t>XGBoost</a:t>
            </a:r>
            <a:r>
              <a:rPr dirty="0"/>
              <a:t> (3种配置)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4. </a:t>
            </a:r>
            <a:r>
              <a:rPr dirty="0" err="1"/>
              <a:t>SelectK</a:t>
            </a:r>
            <a:r>
              <a:rPr dirty="0"/>
              <a:t> + LR (</a:t>
            </a:r>
            <a:r>
              <a:rPr dirty="0" err="1"/>
              <a:t>特征选择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全模型性能对比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验证AUC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过拟合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LR (C=0.1)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0.689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0.523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LR (C=0.5)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LR (C=1.0)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0.706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SelectK(9)+LR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0.553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轻度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RF (depth=3)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RF (depth=5)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RF (depth=10)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GBDT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Logistic Regression 详解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验证AUC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C=0.1 (强正则)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0.689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0.523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10个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C=0.5 (中正则)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C=1.0 (弱正则)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0.706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10个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SelectK(9)+LR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Random Forest 详解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验证AUC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过拟合程度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n=300, depth=3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中度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n=300, depth=5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n=300, depth=10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极严重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n=100, depth=3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Random Forest 过拟合分析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现象</a:t>
            </a:r>
            <a:r>
              <a:rPr dirty="0"/>
              <a:t>: 训练AUC接近1.0, 验证AUC仅0.50</a:t>
            </a:r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原因分析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1. </a:t>
            </a:r>
            <a:r>
              <a:rPr dirty="0" err="1"/>
              <a:t>样本量太小</a:t>
            </a:r>
            <a:r>
              <a:rPr dirty="0"/>
              <a:t>: 仅132个训练样本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2. </a:t>
            </a:r>
            <a:r>
              <a:rPr dirty="0" err="1"/>
              <a:t>特征数相对多</a:t>
            </a:r>
            <a:r>
              <a:rPr dirty="0"/>
              <a:t>: 10个特征 vs 132样本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3. </a:t>
            </a:r>
            <a:r>
              <a:rPr dirty="0" err="1"/>
              <a:t>树模型容量大</a:t>
            </a:r>
            <a:r>
              <a:rPr dirty="0"/>
              <a:t>: </a:t>
            </a:r>
            <a:r>
              <a:rPr dirty="0" err="1"/>
              <a:t>容易记住训练集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尝试的缓解措施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限制树深度</a:t>
            </a:r>
            <a:r>
              <a:rPr dirty="0"/>
              <a:t>: 3→5→10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减少树数量</a:t>
            </a:r>
            <a:r>
              <a:rPr dirty="0"/>
              <a:t>: 300→100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结果</a:t>
            </a:r>
            <a:r>
              <a:rPr dirty="0"/>
              <a:t>: </a:t>
            </a:r>
            <a:r>
              <a:rPr dirty="0" err="1"/>
              <a:t>训练AUC下降但验证AUC未提升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结论</a:t>
            </a:r>
            <a:r>
              <a:rPr dirty="0"/>
              <a:t>: </a:t>
            </a:r>
            <a:r>
              <a:rPr dirty="0" err="1"/>
              <a:t>树模型在小样本场景下不适用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XGBoost / GBDT 详解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验证AUC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过拟合程度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n=200, depth=3, lr=0.05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0.450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0.326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n=200, depth=5, lr=0.1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极严重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n=100, depth=3, lr=0.1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XGBoost 过拟合分析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80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现象:与Random</a:t>
            </a:r>
            <a:r>
              <a:rPr dirty="0"/>
              <a:t> </a:t>
            </a:r>
            <a:r>
              <a:rPr dirty="0" err="1"/>
              <a:t>Forest类似</a:t>
            </a:r>
            <a:r>
              <a:rPr dirty="0"/>
              <a:t>, 训练AUC≈1.0, 验证AUC≈0.51</a:t>
            </a:r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尝试的缓解措施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降低学习率</a:t>
            </a:r>
            <a:r>
              <a:rPr dirty="0"/>
              <a:t>: 0.1→0.05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减少树数量</a:t>
            </a:r>
            <a:r>
              <a:rPr dirty="0"/>
              <a:t>: 200→100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限制深度</a:t>
            </a:r>
            <a:r>
              <a:rPr dirty="0"/>
              <a:t>: 5→3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增加子采样</a:t>
            </a:r>
            <a:r>
              <a:rPr dirty="0"/>
              <a:t>: subsample=0.8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结果</a:t>
            </a:r>
            <a:r>
              <a:rPr dirty="0"/>
              <a:t>: </a:t>
            </a:r>
            <a:r>
              <a:rPr dirty="0" err="1"/>
              <a:t>仍然过拟合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根本原因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样本量</a:t>
            </a:r>
            <a:r>
              <a:rPr dirty="0"/>
              <a:t>(132)</a:t>
            </a:r>
            <a:r>
              <a:rPr dirty="0" err="1"/>
              <a:t>远小于特征空间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梯度提升树在小样本上容易过拟合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结论</a:t>
            </a:r>
            <a:r>
              <a:rPr dirty="0"/>
              <a:t>: </a:t>
            </a:r>
            <a:r>
              <a:rPr dirty="0" err="1"/>
              <a:t>Boosting模型同样不适用于此场景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特征选择效果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8892"/>
            <a:ext cx="10515600" cy="6104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SelectKBest</a:t>
            </a:r>
            <a:r>
              <a:rPr dirty="0"/>
              <a:t> (k=9) </a:t>
            </a:r>
            <a:r>
              <a:rPr dirty="0" err="1"/>
              <a:t>结果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 err="1"/>
              <a:t>选中特征</a:t>
            </a:r>
            <a:r>
              <a:rPr dirty="0"/>
              <a:t> (9个):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✓ </a:t>
            </a:r>
            <a:r>
              <a:rPr dirty="0" err="1"/>
              <a:t>静息心率</a:t>
            </a:r>
            <a:r>
              <a:rPr dirty="0"/>
              <a:t> (</a:t>
            </a:r>
            <a:r>
              <a:rPr dirty="0" err="1"/>
              <a:t>resting_hr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✓ SDNN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✓ RMSSD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✓ LF/</a:t>
            </a:r>
            <a:r>
              <a:rPr dirty="0" err="1"/>
              <a:t>HF比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✓ </a:t>
            </a:r>
            <a:r>
              <a:rPr dirty="0" err="1"/>
              <a:t>灌注指数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✓ </a:t>
            </a:r>
            <a:r>
              <a:rPr dirty="0" err="1"/>
              <a:t>增强指数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✓ </a:t>
            </a:r>
            <a:r>
              <a:rPr dirty="0" err="1"/>
              <a:t>收缩舒张时差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✓ QTc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✓ PWTT</a:t>
            </a:r>
          </a:p>
          <a:p>
            <a:pPr>
              <a:spcAft>
                <a:spcPts val="500"/>
              </a:spcAft>
              <a:defRPr sz="1800"/>
            </a:pPr>
            <a:r>
              <a:rPr dirty="0" err="1"/>
              <a:t>排除特征</a:t>
            </a:r>
            <a:r>
              <a:rPr dirty="0"/>
              <a:t> (1个):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✗ </a:t>
            </a:r>
            <a:r>
              <a:rPr dirty="0" err="1"/>
              <a:t>ST偏移</a:t>
            </a:r>
            <a:r>
              <a:rPr dirty="0"/>
              <a:t> (</a:t>
            </a:r>
            <a:r>
              <a:rPr dirty="0" err="1"/>
              <a:t>st_deviation</a:t>
            </a:r>
            <a:r>
              <a:rPr dirty="0"/>
              <a:t>) - </a:t>
            </a:r>
            <a:r>
              <a:rPr dirty="0" err="1"/>
              <a:t>F统计量最低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效果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CV AUC: 0.508 → 0.537 (+5.7%)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验证AUC</a:t>
            </a:r>
            <a:r>
              <a:rPr dirty="0"/>
              <a:t>: 0.613 → 0.628 (+2.4%)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过拟合程度对比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76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过拟合指标</a:t>
            </a:r>
            <a:r>
              <a:rPr dirty="0"/>
              <a:t>:*</a:t>
            </a:r>
            <a:r>
              <a:rPr dirty="0" err="1"/>
              <a:t>训练AUC</a:t>
            </a:r>
            <a:r>
              <a:rPr dirty="0"/>
              <a:t> - </a:t>
            </a:r>
            <a:r>
              <a:rPr dirty="0" err="1"/>
              <a:t>验证AUC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 err="1"/>
              <a:t>模型</a:t>
            </a:r>
            <a:r>
              <a:rPr dirty="0"/>
              <a:t>                    </a:t>
            </a:r>
            <a:r>
              <a:rPr dirty="0" err="1"/>
              <a:t>训练AUC</a:t>
            </a:r>
            <a:r>
              <a:rPr dirty="0"/>
              <a:t>  </a:t>
            </a:r>
            <a:r>
              <a:rPr dirty="0" err="1"/>
              <a:t>验证AUC</a:t>
            </a:r>
            <a:r>
              <a:rPr dirty="0"/>
              <a:t>  </a:t>
            </a:r>
            <a:r>
              <a:rPr dirty="0" err="1"/>
              <a:t>差值</a:t>
            </a:r>
            <a:r>
              <a:rPr dirty="0"/>
              <a:t>    </a:t>
            </a:r>
            <a:r>
              <a:rPr dirty="0" err="1"/>
              <a:t>过拟合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500"/>
              </a:spcAft>
              <a:defRPr sz="1800"/>
            </a:pPr>
            <a:r>
              <a:rPr dirty="0" err="1"/>
              <a:t>SelectK</a:t>
            </a:r>
            <a:r>
              <a:rPr dirty="0"/>
              <a:t>(9)+LR           0.698    0.628    0.070   ✓ 无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LR (C=0.5)              0.699    0.613    0.086   ✓ 无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LR (C=0.1)              0.689    0.609    0.080   ✓ 无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LR (C=1.0)              0.706    0.604    0.102   ✓ </a:t>
            </a:r>
            <a:r>
              <a:rPr dirty="0" err="1"/>
              <a:t>轻微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SVM (RBF)               0.877    0.543    0.334   △ </a:t>
            </a:r>
            <a:r>
              <a:rPr dirty="0" err="1"/>
              <a:t>中度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RF (depth=3)            0.850    0.520    0.330   △ </a:t>
            </a:r>
            <a:r>
              <a:rPr dirty="0" err="1"/>
              <a:t>中度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RF (depth=5)            0.982    0.509    0.473   ✗ </a:t>
            </a:r>
            <a:r>
              <a:rPr dirty="0" err="1"/>
              <a:t>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RF (depth=10)           1.000    0.490    0.510   ✗ </a:t>
            </a:r>
            <a:r>
              <a:rPr dirty="0" err="1"/>
              <a:t>极严重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 err="1"/>
              <a:t>XGBoost</a:t>
            </a:r>
            <a:r>
              <a:rPr dirty="0"/>
              <a:t>                 0.995    0.519    0.476   ✗ </a:t>
            </a:r>
            <a:r>
              <a:rPr dirty="0" err="1"/>
              <a:t>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GBDT                    0.999    0.515    0.484   ✗ </a:t>
            </a:r>
            <a:r>
              <a:rPr dirty="0" err="1"/>
              <a:t>极严重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结论</a:t>
            </a:r>
            <a:r>
              <a:rPr dirty="0"/>
              <a:t>: </a:t>
            </a:r>
            <a:r>
              <a:rPr dirty="0" err="1"/>
              <a:t>只有LR系列模型无过拟合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为什么选择Logistic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2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/>
              <a:t>1. </a:t>
            </a:r>
            <a:r>
              <a:rPr dirty="0" err="1"/>
              <a:t>无过拟合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训练</a:t>
            </a:r>
            <a:r>
              <a:rPr dirty="0"/>
              <a:t>/</a:t>
            </a:r>
            <a:r>
              <a:rPr dirty="0" err="1"/>
              <a:t>验证AUC差距</a:t>
            </a:r>
            <a:r>
              <a:rPr dirty="0"/>
              <a:t> &lt; 0.1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泛化能力有保障</a:t>
            </a: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最佳验证性能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SelectK+LR验证AUC</a:t>
            </a:r>
            <a:r>
              <a:rPr dirty="0"/>
              <a:t> = 0.628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所有模型中最高</a:t>
            </a: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/>
              <a:t>3. </a:t>
            </a:r>
            <a:r>
              <a:rPr dirty="0" err="1"/>
              <a:t>概率输出可解释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输出0-1概率值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可直接用于风险分层</a:t>
            </a: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/>
              <a:t>4. </a:t>
            </a:r>
            <a:r>
              <a:rPr dirty="0" err="1"/>
              <a:t>训练高效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训练时间</a:t>
            </a:r>
            <a:r>
              <a:rPr dirty="0"/>
              <a:t> &lt; 1秒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适合在线更新</a:t>
            </a: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/>
              <a:t>5. </a:t>
            </a:r>
            <a:r>
              <a:rPr dirty="0" err="1"/>
              <a:t>稳定性好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CV </a:t>
            </a:r>
            <a:r>
              <a:rPr dirty="0" err="1"/>
              <a:t>AUC标准差小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- </a:t>
            </a:r>
            <a:r>
              <a:rPr dirty="0" err="1"/>
              <a:t>对数据变化不敏感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最终推荐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80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推荐模型</a:t>
            </a:r>
            <a:r>
              <a:rPr dirty="0"/>
              <a:t>: </a:t>
            </a:r>
            <a:r>
              <a:rPr dirty="0" err="1"/>
              <a:t>SelectK</a:t>
            </a:r>
            <a:r>
              <a:rPr dirty="0"/>
              <a:t>(9) + LogisticRegression (C=0.5)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</a:t>
            </a:r>
            <a:r>
              <a:rPr dirty="0" err="1"/>
              <a:t>训练AUC</a:t>
            </a:r>
            <a:r>
              <a:rPr dirty="0"/>
              <a:t>:   0.698                          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</a:t>
            </a:r>
            <a:r>
              <a:rPr dirty="0" err="1"/>
              <a:t>验证AUC</a:t>
            </a:r>
            <a:r>
              <a:rPr dirty="0"/>
              <a:t>:   0.628                         </a:t>
            </a:r>
          </a:p>
          <a:p>
            <a:pPr>
              <a:spcAft>
                <a:spcPts val="500"/>
              </a:spcAft>
              <a:defRPr sz="1800"/>
            </a:pPr>
            <a:r>
              <a:rPr lang="en-US" dirty="0"/>
              <a:t> </a:t>
            </a:r>
            <a:r>
              <a:rPr dirty="0"/>
              <a:t>CV AUC:    0.537 ± 0.106                  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F1:        0.381                          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</a:t>
            </a:r>
            <a:r>
              <a:rPr dirty="0" err="1"/>
              <a:t>过拟合</a:t>
            </a:r>
            <a:r>
              <a:rPr dirty="0"/>
              <a:t>:    无 (gap &lt; 0.07)                </a:t>
            </a:r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不推荐的模型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✗ Random Forest - </a:t>
            </a:r>
            <a:r>
              <a:rPr dirty="0" err="1"/>
              <a:t>过拟合严重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✗ </a:t>
            </a:r>
            <a:r>
              <a:rPr dirty="0" err="1"/>
              <a:t>XGBoost</a:t>
            </a:r>
            <a:r>
              <a:rPr dirty="0"/>
              <a:t> - </a:t>
            </a:r>
            <a:r>
              <a:rPr dirty="0" err="1"/>
              <a:t>过拟合严重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✗ GBDT - </a:t>
            </a:r>
            <a:r>
              <a:rPr dirty="0" err="1"/>
              <a:t>过拟合严重</a:t>
            </a:r>
            <a:endParaRPr dirty="0"/>
          </a:p>
          <a:p>
            <a:pPr>
              <a:spcAft>
                <a:spcPts val="500"/>
              </a:spcAft>
              <a:defRPr sz="1800"/>
            </a:pPr>
            <a:r>
              <a:rPr dirty="0"/>
              <a:t>  △ SVM - </a:t>
            </a:r>
            <a:r>
              <a:rPr dirty="0" err="1"/>
              <a:t>轻度过拟合</a:t>
            </a:r>
            <a:r>
              <a:rPr dirty="0"/>
              <a:t>, </a:t>
            </a:r>
            <a:r>
              <a:rPr dirty="0" err="1"/>
              <a:t>概率输出不稳定</a:t>
            </a:r>
            <a:endParaRPr dirty="0"/>
          </a:p>
          <a:p>
            <a:pPr>
              <a:spcAft>
                <a:spcPts val="500"/>
              </a:spcAft>
              <a:defRPr sz="1800"/>
            </a:pPr>
            <a:endParaRPr dirty="0"/>
          </a:p>
          <a:p>
            <a:pPr>
              <a:spcAft>
                <a:spcPts val="5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核心结论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800"/>
            </a:pPr>
            <a:r>
              <a:rPr dirty="0"/>
              <a:t>  </a:t>
            </a:r>
            <a:r>
              <a:rPr dirty="0" err="1"/>
              <a:t>在小样本</a:t>
            </a:r>
            <a:r>
              <a:rPr dirty="0"/>
              <a:t>(132患者)</a:t>
            </a:r>
            <a:r>
              <a:rPr dirty="0" err="1"/>
              <a:t>场景下</a:t>
            </a:r>
            <a:r>
              <a:rPr dirty="0"/>
              <a:t>, </a:t>
            </a:r>
            <a:r>
              <a:rPr dirty="0" err="1"/>
              <a:t>线性模型</a:t>
            </a:r>
            <a:r>
              <a:rPr dirty="0"/>
              <a:t>(LR)</a:t>
            </a:r>
            <a:r>
              <a:rPr dirty="0" err="1"/>
              <a:t>优于树模型</a:t>
            </a:r>
            <a:r>
              <a:rPr dirty="0"/>
              <a:t>(RF/</a:t>
            </a:r>
            <a:r>
              <a:rPr dirty="0" err="1"/>
              <a:t>XGBoost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950</Words>
  <Application>Microsoft Office PowerPoint</Application>
  <PresentationFormat>宽屏</PresentationFormat>
  <Paragraphs>282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3</cp:revision>
  <dcterms:created xsi:type="dcterms:W3CDTF">2013-01-27T09:14:16Z</dcterms:created>
  <dcterms:modified xsi:type="dcterms:W3CDTF">2026-09-01T08:07:37Z</dcterms:modified>
  <cp:category/>
</cp:coreProperties>
</file>