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冠心病风险预测模型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E86C1"/>
                </a:solidFill>
              </a:rPr>
              <a:t>基于华为手表PPG/ECG信号特征的XGBoost建模报告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F8C8D"/>
                </a:solidFill>
              </a:rPr>
              <a:t>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1. </a:t>
            </a:r>
            <a:r>
              <a:rPr sz="2000" dirty="0" err="1">
                <a:solidFill>
                  <a:srgbClr val="FFFFFF"/>
                </a:solidFill>
              </a:rPr>
              <a:t>项目概述</a:t>
            </a:r>
            <a:endParaRPr sz="20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2. </a:t>
            </a:r>
            <a:r>
              <a:rPr sz="2000" dirty="0" err="1">
                <a:solidFill>
                  <a:srgbClr val="FFFFFF"/>
                </a:solidFill>
              </a:rPr>
              <a:t>数据处理流程</a:t>
            </a:r>
            <a:endParaRPr sz="20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3. </a:t>
            </a:r>
            <a:r>
              <a:rPr sz="2000" dirty="0" err="1">
                <a:solidFill>
                  <a:srgbClr val="FFFFFF"/>
                </a:solidFill>
              </a:rPr>
              <a:t>特征工程</a:t>
            </a:r>
            <a:endParaRPr sz="20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4. </a:t>
            </a:r>
            <a:r>
              <a:rPr sz="2000" dirty="0" err="1">
                <a:solidFill>
                  <a:srgbClr val="FFFFFF"/>
                </a:solidFill>
              </a:rPr>
              <a:t>数据集统计</a:t>
            </a:r>
            <a:endParaRPr sz="20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5. </a:t>
            </a:r>
            <a:r>
              <a:rPr sz="2000" dirty="0" err="1">
                <a:solidFill>
                  <a:srgbClr val="FFFFFF"/>
                </a:solidFill>
              </a:rPr>
              <a:t>模型架构</a:t>
            </a:r>
            <a:endParaRPr sz="20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6. </a:t>
            </a:r>
            <a:r>
              <a:rPr sz="2000" dirty="0" err="1">
                <a:solidFill>
                  <a:srgbClr val="FFFFFF"/>
                </a:solidFill>
              </a:rPr>
              <a:t>模型性能对比</a:t>
            </a:r>
            <a:endParaRPr sz="20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7. </a:t>
            </a:r>
            <a:r>
              <a:rPr sz="2000" dirty="0" err="1">
                <a:solidFill>
                  <a:srgbClr val="FFFFFF"/>
                </a:solidFill>
              </a:rPr>
              <a:t>特征重要性分析</a:t>
            </a:r>
            <a:endParaRPr sz="20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8. </a:t>
            </a:r>
            <a:r>
              <a:rPr sz="2000" dirty="0" err="1">
                <a:solidFill>
                  <a:srgbClr val="FFFFFF"/>
                </a:solidFill>
              </a:rPr>
              <a:t>数据质量分析</a:t>
            </a:r>
            <a:endParaRPr sz="20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9. </a:t>
            </a:r>
            <a:r>
              <a:rPr sz="2000" dirty="0" err="1">
                <a:solidFill>
                  <a:srgbClr val="FFFFFF"/>
                </a:solidFill>
              </a:rPr>
              <a:t>附件波形测试</a:t>
            </a:r>
            <a:endParaRPr sz="20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10. </a:t>
            </a:r>
            <a:r>
              <a:rPr sz="2000" dirty="0" err="1">
                <a:solidFill>
                  <a:srgbClr val="FFFFFF"/>
                </a:solidFill>
              </a:rPr>
              <a:t>测试集AUC验证</a:t>
            </a:r>
            <a:endParaRPr sz="20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11. </a:t>
            </a:r>
            <a:r>
              <a:rPr sz="2000" dirty="0" err="1">
                <a:solidFill>
                  <a:srgbClr val="FFFFFF"/>
                </a:solidFill>
              </a:rPr>
              <a:t>性能下降原因分析</a:t>
            </a:r>
            <a:endParaRPr sz="20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FFFFFF"/>
                </a:solidFill>
              </a:rPr>
              <a:t>12. </a:t>
            </a:r>
            <a:r>
              <a:rPr sz="2000" dirty="0" err="1">
                <a:solidFill>
                  <a:srgbClr val="FFFFFF"/>
                </a:solidFill>
              </a:rPr>
              <a:t>结论与建议</a:t>
            </a:r>
            <a:endParaRPr sz="2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1. 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 err="1">
                <a:solidFill>
                  <a:srgbClr val="FFFFFF"/>
                </a:solidFill>
              </a:rPr>
              <a:t>目标：基于华为手表采集的PPG</a:t>
            </a:r>
            <a:r>
              <a:rPr sz="1800" dirty="0">
                <a:solidFill>
                  <a:srgbClr val="FFFFFF"/>
                </a:solidFill>
              </a:rPr>
              <a:t>/</a:t>
            </a:r>
            <a:r>
              <a:rPr sz="1800" dirty="0" err="1">
                <a:solidFill>
                  <a:srgbClr val="FFFFFF"/>
                </a:solidFill>
              </a:rPr>
              <a:t>ECG信号，构建冠心病</a:t>
            </a:r>
            <a:r>
              <a:rPr sz="1800" dirty="0">
                <a:solidFill>
                  <a:srgbClr val="FFFFFF"/>
                </a:solidFill>
              </a:rPr>
              <a:t>(CAD)</a:t>
            </a:r>
            <a:r>
              <a:rPr sz="1800" dirty="0" err="1">
                <a:solidFill>
                  <a:srgbClr val="FFFFFF"/>
                </a:solidFill>
              </a:rPr>
              <a:t>筛查模型</a:t>
            </a:r>
            <a:endParaRPr sz="18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FFFFFF"/>
                </a:solidFill>
              </a:rPr>
              <a:t>方法：提取10项生理特征 → </a:t>
            </a:r>
            <a:r>
              <a:rPr sz="1800" dirty="0" err="1">
                <a:solidFill>
                  <a:srgbClr val="FFFFFF"/>
                </a:solidFill>
              </a:rPr>
              <a:t>XGBoost分组交叉验证</a:t>
            </a:r>
            <a:endParaRPr sz="18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FFFFFF"/>
                </a:solidFill>
              </a:rPr>
              <a:t>数据：153,362名参与者问卷标签，130,253条PPG记录，130,160条ECG记录</a:t>
            </a:r>
          </a:p>
          <a:p>
            <a:pPr>
              <a:spcAft>
                <a:spcPts val="800"/>
              </a:spcAft>
            </a:pPr>
            <a:r>
              <a:rPr sz="1800" dirty="0" err="1">
                <a:solidFill>
                  <a:srgbClr val="FFFFFF"/>
                </a:solidFill>
              </a:rPr>
              <a:t>评估：GroupKFold</a:t>
            </a:r>
            <a:r>
              <a:rPr sz="1800" dirty="0">
                <a:solidFill>
                  <a:srgbClr val="FFFFFF"/>
                </a:solidFill>
              </a:rPr>
              <a:t> (5-fold) </a:t>
            </a:r>
            <a:r>
              <a:rPr sz="1800" dirty="0" err="1">
                <a:solidFill>
                  <a:srgbClr val="FFFFFF"/>
                </a:solidFill>
              </a:rPr>
              <a:t>AUC，按healthid分组防止数据泄漏</a:t>
            </a:r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2. 数据处理流程 (5阶段)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</a:rPr>
              <a:t>阶段1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读取问卷标签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F0F1"/>
                </a:solidFill>
              </a:rPr>
              <a:t>153,362名参与者；CAD阳性9,947例 (6.5%)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</a:rPr>
              <a:t>阶段2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索引PPG记录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77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F0F1"/>
                </a:solidFill>
              </a:rPr>
              <a:t>扫描9,800,000条 → 匹配130,253名标注参与者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</a:rPr>
              <a:t>阶段3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索引ECG记录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83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F0F1"/>
                </a:solidFill>
              </a:rPr>
              <a:t>扫描9,750,000条 → 匹配130,160名标注参与者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</a:rPr>
              <a:t>阶段4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提取信号特征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F0F1"/>
                </a:solidFill>
              </a:rPr>
              <a:t>130,253 PPG → 保留106,973有效样本；ECG配对99,288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</a:rPr>
              <a:t>阶段5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394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XGBoost交叉验证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394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F0F1"/>
                </a:solidFill>
              </a:rPr>
              <a:t>max_depth ∈ {3,4,5,6}，GroupKFold 5-fold CV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3. 特征工程 - 10项生理特征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559976"/>
              </p:ext>
            </p:extLst>
          </p:nvPr>
        </p:nvGraphicFramePr>
        <p:xfrm>
          <a:off x="1075187" y="1368532"/>
          <a:ext cx="78867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特征名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中文描述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信号来源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resting_hr_bpm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静息心率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PPG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sdnn_ms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SDNN (RR间期标准差)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PPG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rmssd_ms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RMSSD (相邻RR间期差值均方根)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PPG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lf_hf_ratio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LF/HF比值 (低频/高频功率比)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PPG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perfusion_index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灌注指数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PPG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augmentation_index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增强指数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PPG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primary_reflected_peak_delay_ms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反射峰延迟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PPG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st_deviation_mv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ST段偏移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ECG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qtc_ms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QTc间期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ECG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pulse_transit_time_ms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脉搏传导时间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PPG+ECG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4. 数据集统计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146123"/>
              </p:ext>
            </p:extLst>
          </p:nvPr>
        </p:nvGraphicFramePr>
        <p:xfrm>
          <a:off x="731520" y="137160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统计项目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问卷标签总数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153,362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原始参与者数量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CAD阳性病例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9,947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确诊冠心病患者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PPG候选参与者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130,253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有PPG记录的参与者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ECG候选参与者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130,160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有ECG记录的参与者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缺失PPG附件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23,279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附件文件缺失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无法读取PPG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信号质量不合格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ECG配对成功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99,288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PPG-</a:t>
                      </a:r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ECG成功配对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最终特征行数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106,973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可用于训练的样本数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5. 模型架构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277814"/>
            <a:ext cx="10515600" cy="417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FFFFFF"/>
                </a:solidFill>
              </a:rPr>
              <a:t>算法：XGBoost</a:t>
            </a: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FFFFFF"/>
                </a:solidFill>
              </a:rPr>
              <a:t>基础模型</a:t>
            </a:r>
            <a:r>
              <a:rPr sz="1600" dirty="0">
                <a:solidFill>
                  <a:srgbClr val="FFFFFF"/>
                </a:solidFill>
              </a:rPr>
              <a:t>：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  - 输入：10个PPG信号特征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  - </a:t>
            </a:r>
            <a:r>
              <a:rPr sz="1600" dirty="0" err="1">
                <a:solidFill>
                  <a:srgbClr val="FFFFFF"/>
                </a:solidFill>
              </a:rPr>
              <a:t>缺失值处理：中位数填充</a:t>
            </a:r>
            <a:r>
              <a:rPr sz="1600" dirty="0">
                <a:solidFill>
                  <a:srgbClr val="FFFFFF"/>
                </a:solidFill>
              </a:rPr>
              <a:t> + </a:t>
            </a:r>
            <a:r>
              <a:rPr sz="1600" dirty="0" err="1">
                <a:solidFill>
                  <a:srgbClr val="FFFFFF"/>
                </a:solidFill>
              </a:rPr>
              <a:t>指示列</a:t>
            </a: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  - </a:t>
            </a:r>
            <a:r>
              <a:rPr sz="1600" dirty="0" err="1">
                <a:solidFill>
                  <a:srgbClr val="FFFFFF"/>
                </a:solidFill>
              </a:rPr>
              <a:t>输出：CAD风险概率</a:t>
            </a:r>
            <a:r>
              <a:rPr sz="1600" dirty="0">
                <a:solidFill>
                  <a:srgbClr val="FFFFFF"/>
                </a:solidFill>
              </a:rPr>
              <a:t> (0-1)</a:t>
            </a:r>
          </a:p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FFFFFF"/>
                </a:solidFill>
              </a:rPr>
              <a:t>PTT增强模型</a:t>
            </a:r>
            <a:r>
              <a:rPr sz="1600" dirty="0">
                <a:solidFill>
                  <a:srgbClr val="FFFFFF"/>
                </a:solidFill>
              </a:rPr>
              <a:t>：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  - 输入：20个特征（10个原始生理特征 + 10个缺失值指示列）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  - </a:t>
            </a:r>
            <a:r>
              <a:rPr sz="1600" dirty="0" err="1">
                <a:solidFill>
                  <a:srgbClr val="FFFFFF"/>
                </a:solidFill>
              </a:rPr>
              <a:t>架构：与基础模型相同</a:t>
            </a: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FFFFFF"/>
                </a:solidFill>
              </a:rPr>
              <a:t>训练配置</a:t>
            </a:r>
            <a:r>
              <a:rPr sz="1600" dirty="0">
                <a:solidFill>
                  <a:srgbClr val="FFFFFF"/>
                </a:solidFill>
              </a:rPr>
              <a:t>：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  - 最大深度：4 (</a:t>
            </a:r>
            <a:r>
              <a:rPr sz="1600" dirty="0" err="1">
                <a:solidFill>
                  <a:srgbClr val="FFFFFF"/>
                </a:solidFill>
              </a:rPr>
              <a:t>约束模型复杂度</a:t>
            </a:r>
            <a:r>
              <a:rPr sz="1600" dirty="0">
                <a:solidFill>
                  <a:srgbClr val="FFFFFF"/>
                </a:solidFill>
              </a:rPr>
              <a:t>)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  - 早停轮数：50轮 (</a:t>
            </a:r>
            <a:r>
              <a:rPr sz="1600" dirty="0" err="1">
                <a:solidFill>
                  <a:srgbClr val="FFFFFF"/>
                </a:solidFill>
              </a:rPr>
              <a:t>防止过拟合</a:t>
            </a:r>
            <a:r>
              <a:rPr sz="1600" dirty="0">
                <a:solidFill>
                  <a:srgbClr val="FFFFFF"/>
                </a:solidFill>
              </a:rPr>
              <a:t>)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  - </a:t>
            </a:r>
            <a:r>
              <a:rPr sz="1600" dirty="0" err="1">
                <a:solidFill>
                  <a:srgbClr val="FFFFFF"/>
                </a:solidFill>
              </a:rPr>
              <a:t>评估指标：AUC</a:t>
            </a:r>
            <a:endParaRPr sz="16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6. 模型性能对比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210237"/>
              </p:ext>
            </p:extLst>
          </p:nvPr>
        </p:nvGraphicFramePr>
        <p:xfrm>
          <a:off x="731520" y="13716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指标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基础模型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PTT模型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差异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AUC-ROC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0.7299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0.7367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+0.0068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训练样本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106,973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106,973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阳性率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5.93%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5.93%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最优阈值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</a:rPr>
              <a:t>阈值优化结果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519870"/>
              </p:ext>
            </p:extLst>
          </p:nvPr>
        </p:nvGraphicFramePr>
        <p:xfrm>
          <a:off x="731520" y="457200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阈值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精确率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召回率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F1分数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预测阳性数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0.0966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0.7759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0.1719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50,903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0.1608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0.3721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0.2245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14,672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0.1869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0.2959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0.2291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9,876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0.2385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0.1582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0.1902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4,206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0.3317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0.0640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0.1074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1,224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7. 特征重要性分析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 err="1">
                <a:solidFill>
                  <a:srgbClr val="FFFFFF"/>
                </a:solidFill>
              </a:rPr>
              <a:t>主要发现</a:t>
            </a:r>
            <a:r>
              <a:rPr sz="1800" dirty="0">
                <a:solidFill>
                  <a:srgbClr val="FFFFFF"/>
                </a:solidFill>
              </a:rPr>
              <a:t>：</a:t>
            </a:r>
          </a:p>
          <a:p>
            <a:pPr>
              <a:spcAft>
                <a:spcPts val="800"/>
              </a:spcAft>
            </a:pPr>
            <a:endParaRPr sz="18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FFFFFF"/>
                </a:solidFill>
              </a:rPr>
              <a:t>1. </a:t>
            </a:r>
            <a:r>
              <a:rPr sz="1800" dirty="0" err="1">
                <a:solidFill>
                  <a:srgbClr val="FFFFFF"/>
                </a:solidFill>
              </a:rPr>
              <a:t>心率变异性特征（SDNN</a:t>
            </a:r>
            <a:r>
              <a:rPr sz="1800" dirty="0">
                <a:solidFill>
                  <a:srgbClr val="FFFFFF"/>
                </a:solidFill>
              </a:rPr>
              <a:t>, </a:t>
            </a:r>
            <a:r>
              <a:rPr sz="1800" dirty="0" err="1">
                <a:solidFill>
                  <a:srgbClr val="FFFFFF"/>
                </a:solidFill>
              </a:rPr>
              <a:t>RMSSD）对分类最重要</a:t>
            </a:r>
            <a:endParaRPr sz="18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endParaRPr sz="18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FFFFFF"/>
                </a:solidFill>
              </a:rPr>
              <a:t>2. </a:t>
            </a:r>
            <a:r>
              <a:rPr sz="1800" dirty="0" err="1">
                <a:solidFill>
                  <a:srgbClr val="FFFFFF"/>
                </a:solidFill>
              </a:rPr>
              <a:t>灌注指数提供显著的判别能力</a:t>
            </a:r>
            <a:endParaRPr sz="18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endParaRPr sz="18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FFFFFF"/>
                </a:solidFill>
              </a:rPr>
              <a:t>3. </a:t>
            </a:r>
            <a:r>
              <a:rPr sz="1800" dirty="0" err="1">
                <a:solidFill>
                  <a:srgbClr val="FFFFFF"/>
                </a:solidFill>
              </a:rPr>
              <a:t>增强指数和反射峰延迟贡献有意义的信号</a:t>
            </a:r>
            <a:endParaRPr sz="18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endParaRPr sz="18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FFFFFF"/>
                </a:solidFill>
              </a:rPr>
              <a:t>4</a:t>
            </a:r>
            <a:r>
              <a:rPr sz="1800" dirty="0">
                <a:solidFill>
                  <a:srgbClr val="FFFFFF"/>
                </a:solidFill>
              </a:rPr>
              <a:t>. 前5个特征占模型决策的大部分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8. 数据质量分析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PPG附件缺失率：23,279 / 130,253 = 17.9%</a:t>
            </a:r>
          </a:p>
          <a:p>
            <a:pPr>
              <a:spcAft>
                <a:spcPts val="800"/>
              </a:spcAft>
            </a:pP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ECG配对率：99,288 / 130,253 = 76.2%（</a:t>
            </a:r>
            <a:r>
              <a:rPr sz="1600" dirty="0" err="1">
                <a:solidFill>
                  <a:srgbClr val="FFFFFF"/>
                </a:solidFill>
              </a:rPr>
              <a:t>同groupid内成功配对</a:t>
            </a:r>
            <a:r>
              <a:rPr sz="1600" dirty="0">
                <a:solidFill>
                  <a:srgbClr val="FFFFFF"/>
                </a:solidFill>
              </a:rPr>
              <a:t>）</a:t>
            </a:r>
          </a:p>
          <a:p>
            <a:pPr>
              <a:spcAft>
                <a:spcPts val="800"/>
              </a:spcAft>
            </a:pP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PPG可读率：106,973 / (130,253 − 23,279) = 99.99%（</a:t>
            </a:r>
            <a:r>
              <a:rPr sz="1600" dirty="0" err="1">
                <a:solidFill>
                  <a:srgbClr val="FFFFFF"/>
                </a:solidFill>
              </a:rPr>
              <a:t>几乎全部可解析</a:t>
            </a:r>
            <a:r>
              <a:rPr sz="1600" dirty="0">
                <a:solidFill>
                  <a:srgbClr val="FFFFFF"/>
                </a:solidFill>
              </a:rPr>
              <a:t>）</a:t>
            </a:r>
          </a:p>
          <a:p>
            <a:pPr>
              <a:spcAft>
                <a:spcPts val="800"/>
              </a:spcAft>
            </a:pP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FFFFFF"/>
                </a:solidFill>
              </a:rPr>
              <a:t>pulse_transit_time_ms特征缺失率较高（需同时有PPG+ECG配对</a:t>
            </a:r>
            <a:r>
              <a:rPr sz="1600" dirty="0">
                <a:solidFill>
                  <a:srgbClr val="FFFFFF"/>
                </a:solidFill>
              </a:rPr>
              <a:t>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9. 附件波形测试结果 (全量1000个文件)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550762"/>
              </p:ext>
            </p:extLst>
          </p:nvPr>
        </p:nvGraphicFramePr>
        <p:xfrm>
          <a:off x="731520" y="1188720"/>
          <a:ext cx="4572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测试统计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总文件数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1,000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成功处理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953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跳过（无PPG）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47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成功率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95.3%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825167"/>
              </p:ext>
            </p:extLst>
          </p:nvPr>
        </p:nvGraphicFramePr>
        <p:xfrm>
          <a:off x="5943600" y="1188720"/>
          <a:ext cx="5486400" cy="3074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模型性能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基础模型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PTT模型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预测class</a:t>
                      </a:r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 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952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952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预测class 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平均P(阳性)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0.0590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0.0628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标准差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0.0415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0.0443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最小值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0.0175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0.0205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最大值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0.6155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0.6980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模型一致性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6433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2E86C1"/>
                </a:solidFill>
              </a:rPr>
              <a:t>概率分布（基础模型</a:t>
            </a:r>
            <a:r>
              <a:rPr sz="1800" b="1" dirty="0">
                <a:solidFill>
                  <a:srgbClr val="2E86C1"/>
                </a:solidFill>
              </a:rPr>
              <a:t>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641291"/>
              </p:ext>
            </p:extLst>
          </p:nvPr>
        </p:nvGraphicFramePr>
        <p:xfrm>
          <a:off x="731520" y="462153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P(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阳性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范围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文件数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占比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[0.00, 0.05)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537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56.3%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[0.05, 0.10)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244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25.6%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[0.10, 0.15)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150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15.7%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[0.15, 0.20)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2.2%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[0.20, 0.50)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[0.50, 1.00)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10. 测试集AUC验证（前瞻性数据）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</a:rPr>
              <a:t>数据匹配统计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053054"/>
              </p:ext>
            </p:extLst>
          </p:nvPr>
        </p:nvGraphicFramePr>
        <p:xfrm>
          <a:off x="731520" y="16459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匹配项目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数量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附件文件总数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1,000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zip格式测试文件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成功提取时间戳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983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从collect_data文件名提取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成功映射外部ID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通过标签对应表匹配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成功匹配诊断标签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694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与前瞻诊断数据关联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最终匹配测试结果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有完整预测和标签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</a:rPr>
              <a:t>标签分布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655583"/>
              </p:ext>
            </p:extLst>
          </p:nvPr>
        </p:nvGraphicFramePr>
        <p:xfrm>
          <a:off x="6217920" y="164592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类别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数量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比例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CAD阴性 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561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82.1%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CAD阳性 (1)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17.9%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</a:rPr>
              <a:t>测试集性能指标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489841"/>
              </p:ext>
            </p:extLst>
          </p:nvPr>
        </p:nvGraphicFramePr>
        <p:xfrm>
          <a:off x="731520" y="5029200"/>
          <a:ext cx="8763000" cy="10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模型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准确率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召回率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F1分数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基础模型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0.4906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82.28%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0.82%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0.0163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PTT模型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0.4717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82.28%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0.82%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0.0163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11. 性能下降原因分析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</a:rPr>
              <a:t>关键发现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538647"/>
              </p:ext>
            </p:extLst>
          </p:nvPr>
        </p:nvGraphicFramePr>
        <p:xfrm>
          <a:off x="805162" y="1325880"/>
          <a:ext cx="10290375" cy="2459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935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问题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证据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影响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935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标签匹配误差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150个唯一ID，683个样本</a:t>
                      </a:r>
                    </a:p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平均每个ID</a:t>
                      </a:r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 4.55个样本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标签错误导致模型无法学习正确模式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93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模型无法区分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CAD阳性P</a:t>
                      </a:r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阳性</a:t>
                      </a:r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)=0.0599</a:t>
                      </a:r>
                    </a:p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CAD阴性P</a:t>
                      </a:r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阳性</a:t>
                      </a:r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)=0.0587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预测概率无显著差异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(p=0.7447)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93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诊断状态复杂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10+种诊断状态</a:t>
                      </a:r>
                    </a:p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预测概率差异很小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模型无法有效区分不同患者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93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高置信度预测极少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仅1个预测P&gt;0.3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范围[0.0175, 0.6155]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模型对大多数样本预测不确定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52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2E86C1"/>
                </a:solidFill>
              </a:rPr>
              <a:t>性能下降原因</a:t>
            </a:r>
            <a:endParaRPr sz="1800" b="1" dirty="0">
              <a:solidFill>
                <a:srgbClr val="2E86C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32060"/>
              </p:ext>
            </p:extLst>
          </p:nvPr>
        </p:nvGraphicFramePr>
        <p:xfrm>
          <a:off x="805162" y="4404770"/>
          <a:ext cx="10437660" cy="2167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758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原因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可能性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证据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758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标签匹配误差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高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时间戳匹配可能不准确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不同人数据可能错误关联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5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数据分布差异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高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回顾性vs前瞻性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不同医院/人群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75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样本量不足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中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训练集106,973</a:t>
                      </a:r>
                    </a:p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测试集仅683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758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模型过拟合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中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AUC下降32.8%</a:t>
                      </a:r>
                    </a:p>
                    <a:p>
                      <a:pPr algn="ctr"/>
                      <a:r>
                        <a:rPr sz="1200" b="0" dirty="0" err="1">
                          <a:solidFill>
                            <a:srgbClr val="FFFFFF"/>
                          </a:solidFill>
                        </a:rPr>
                        <a:t>训练集噪声被记忆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86C1"/>
                </a:solidFill>
              </a:rPr>
              <a:t>12. 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92756"/>
            <a:ext cx="887888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FFFFFF"/>
                </a:solidFill>
              </a:rPr>
              <a:t>结论</a:t>
            </a:r>
            <a:r>
              <a:rPr sz="1600" dirty="0">
                <a:solidFill>
                  <a:srgbClr val="FFFFFF"/>
                </a:solidFill>
              </a:rPr>
              <a:t>：</a:t>
            </a:r>
          </a:p>
          <a:p>
            <a:pPr>
              <a:spcAft>
                <a:spcPts val="800"/>
              </a:spcAft>
            </a:pP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PPG/</a:t>
            </a:r>
            <a:r>
              <a:rPr sz="1600" dirty="0" err="1">
                <a:solidFill>
                  <a:srgbClr val="FFFFFF"/>
                </a:solidFill>
              </a:rPr>
              <a:t>ECG信号特征可从华为手表数据中稳定提取</a:t>
            </a: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XGBoost模型AUC</a:t>
            </a:r>
            <a:r>
              <a:rPr sz="1600" dirty="0">
                <a:solidFill>
                  <a:srgbClr val="FFFFFF"/>
                </a:solidFill>
              </a:rPr>
              <a:t> = 0.737（PTT版），</a:t>
            </a:r>
            <a:r>
              <a:rPr sz="1600" dirty="0" err="1">
                <a:solidFill>
                  <a:srgbClr val="FFFFFF"/>
                </a:solidFill>
              </a:rPr>
              <a:t>具备一定筛查能力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FFFFFF"/>
                </a:solidFill>
              </a:rPr>
              <a:t>性能下降原因</a:t>
            </a:r>
            <a:r>
              <a:rPr sz="1600" dirty="0">
                <a:solidFill>
                  <a:srgbClr val="FFFFFF"/>
                </a:solidFill>
              </a:rPr>
              <a:t>：</a:t>
            </a:r>
          </a:p>
          <a:p>
            <a:pPr>
              <a:spcAft>
                <a:spcPts val="800"/>
              </a:spcAft>
            </a:pP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FFFFFF"/>
                </a:solidFill>
              </a:rPr>
              <a:t>标签匹配误差：时间戳匹配可能不准确</a:t>
            </a: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FFFFFF"/>
                </a:solidFill>
              </a:rPr>
              <a:t>数据分布差异：前瞻性数据与回顾性数据分布不同</a:t>
            </a:r>
            <a:endParaRPr sz="16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endParaRPr sz="16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837</Words>
  <Application>Microsoft Office PowerPoint</Application>
  <PresentationFormat>宽屏</PresentationFormat>
  <Paragraphs>338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瑞锋 赵</cp:lastModifiedBy>
  <cp:revision>6</cp:revision>
  <dcterms:created xsi:type="dcterms:W3CDTF">2013-01-27T09:14:16Z</dcterms:created>
  <dcterms:modified xsi:type="dcterms:W3CDTF">2026-09-08T09:35:05Z</dcterms:modified>
  <cp:category/>
</cp:coreProperties>
</file>