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96D6"/>
                </a:solidFill>
              </a:defRPr>
            </a:pPr>
            <a:r>
              <a:t>CAD预测模型 Baseline vs 改进版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五折交叉验证对比分析报告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3657600"/>
            <a:ext cx="548640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XGBoost (Baseline)  vs  RandomForest (改进版)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909例样本 | 10个PPG特征 | Stratified 5-Fold CV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Baseline 模型概述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502920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</a:defRPr>
            </a:pPr>
            <a:r>
              <a:t>数据与特征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样本数量: 909例 (来自zip文件)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正样本(CAD+): 37例 (4.1%)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负样本(CAD-): 872例 (95.9%)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特征数量: 10个PPG特征 (7个有效, 3个ECG全缺失)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标签来源: 标签对应表 → 时间戳映射 → 外部ID → 疾病关键词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</a:defRPr>
            </a:pPr>
            <a:r>
              <a:t>Baseline模型配置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模型: XGBoost (max_depth=4, n_estimators=300)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432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学习率: 0.04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747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采样: subsample=0.8, colsample_bytree=0.8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2062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缺失值: SimpleImputer (median + indicator)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9377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交叉验证: StratifiedKFold, n_splits=5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Baseline 五折交叉验证结果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560320" cy="137160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Mean AUC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96D6"/>
                </a:solidFill>
              </a:defRPr>
            </a:pPr>
            <a:r>
              <a:t>0.8043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188720"/>
            <a:ext cx="2560320" cy="137160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291840" y="1280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Std 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CCCCC"/>
                </a:solidFill>
              </a:defRPr>
            </a:pPr>
            <a:r>
              <a:t>±0.0392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188720"/>
            <a:ext cx="2560320" cy="137160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126480" y="1280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总样本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909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188720"/>
            <a:ext cx="2560320" cy="137160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961120" y="1280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正样本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74C3C"/>
                </a:solidFill>
              </a:defRPr>
            </a:pPr>
            <a:r>
              <a:t>37 (4.1%)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各折AUC分布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F1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611880"/>
            <a:ext cx="7315200" cy="32004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1371600" y="3611880"/>
            <a:ext cx="5804611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961120" y="3566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0.7935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F2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160520"/>
            <a:ext cx="7315200" cy="32004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1371600" y="4160520"/>
            <a:ext cx="6269857" cy="3200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896112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0.8571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634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F3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4709160"/>
            <a:ext cx="7315200" cy="32004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1371600" y="4709160"/>
            <a:ext cx="6111849" cy="3200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8961120" y="4663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0.8355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12079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F4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0" y="5257799"/>
            <a:ext cx="7315200" cy="32004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1371600" y="5257799"/>
            <a:ext cx="5791443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8961120" y="521207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0.7917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7607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F5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5806440"/>
            <a:ext cx="7315200" cy="32004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34" name="Rounded Rectangle 33"/>
          <p:cNvSpPr/>
          <p:nvPr/>
        </p:nvSpPr>
        <p:spPr>
          <a:xfrm>
            <a:off x="1371600" y="5806440"/>
            <a:ext cx="5441045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8961120" y="5760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0.7438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CC71"/>
                </a:solidFill>
              </a:defRPr>
            </a:pPr>
            <a:r>
              <a:t>改进版 五折交叉验证结果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103120" cy="137160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Mean AUC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</a:defRPr>
            </a:pPr>
            <a:r>
              <a:t>0.8101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39" y="1188720"/>
            <a:ext cx="2103120" cy="137160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2606039" y="1280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39" y="1737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6D6"/>
                </a:solidFill>
              </a:defRPr>
            </a:pPr>
            <a:r>
              <a:t>0.9043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59" y="1188720"/>
            <a:ext cx="2103120" cy="137160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937759" y="1280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1737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0.2085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79" y="1188720"/>
            <a:ext cx="2103120" cy="137160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269479" y="1280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1737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0.4071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188720"/>
            <a:ext cx="2103120" cy="137160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9601200" y="1280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F1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737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0.2705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各折详细指标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74720"/>
            <a:ext cx="1097280" cy="4114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Fold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0" y="3474720"/>
            <a:ext cx="1463040" cy="4114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3474720"/>
            <a:ext cx="1463040" cy="4114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3474720"/>
            <a:ext cx="1463040" cy="4114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Precision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474720"/>
            <a:ext cx="1463040" cy="4114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Recall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474720"/>
            <a:ext cx="1463040" cy="4114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977639"/>
            <a:ext cx="1097280" cy="38404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0" y="3977639"/>
            <a:ext cx="1463040" cy="38404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0.8736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3977639"/>
            <a:ext cx="1463040" cy="38404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0.7355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0" y="3977639"/>
            <a:ext cx="1463040" cy="38404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0.1364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3977639"/>
            <a:ext cx="1463040" cy="38404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0.4286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977639"/>
            <a:ext cx="1463040" cy="38404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0.2069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34840"/>
            <a:ext cx="1097280" cy="384048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45920" y="4434840"/>
            <a:ext cx="1463040" cy="384048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0.9505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0" y="4434840"/>
            <a:ext cx="1463040" cy="384048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0.8653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37760" y="4434840"/>
            <a:ext cx="1463040" cy="384048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0.4000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4434840"/>
            <a:ext cx="1463040" cy="384048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0.5714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434840"/>
            <a:ext cx="1463040" cy="384048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0.4706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892040"/>
            <a:ext cx="1097280" cy="38404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45920" y="4892040"/>
            <a:ext cx="1463040" cy="38404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0.8846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1840" y="4892040"/>
            <a:ext cx="1463040" cy="38404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0.8240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37760" y="4892040"/>
            <a:ext cx="1463040" cy="38404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0.1579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4892040"/>
            <a:ext cx="1463040" cy="38404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0.3750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4892040"/>
            <a:ext cx="1463040" cy="38404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0.2222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349240"/>
            <a:ext cx="1097280" cy="384048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45920" y="5349240"/>
            <a:ext cx="1463040" cy="384048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0.8901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1840" y="5349240"/>
            <a:ext cx="1463040" cy="384048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0.7996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37760" y="5349240"/>
            <a:ext cx="1463040" cy="384048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0.1667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5349240"/>
            <a:ext cx="1463040" cy="384048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0.3750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0" y="5349240"/>
            <a:ext cx="1463040" cy="384048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0.2308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806440"/>
            <a:ext cx="1097280" cy="38404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645920" y="5806440"/>
            <a:ext cx="1463040" cy="38404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0.9227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91840" y="5806440"/>
            <a:ext cx="1463040" cy="38404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0.8259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37760" y="5806440"/>
            <a:ext cx="1463040" cy="38404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0.1818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0" y="5806440"/>
            <a:ext cx="1463040" cy="38404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0.2857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0" y="5806440"/>
            <a:ext cx="1463040" cy="38404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0.2222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6263640"/>
            <a:ext cx="1097280" cy="4114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CC71"/>
                </a:solidFill>
              </a:defRPr>
            </a:pPr>
            <a:r>
              <a:t>AVG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645920" y="6263640"/>
            <a:ext cx="1463040" cy="4114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CC71"/>
                </a:solidFill>
              </a:defRPr>
            </a:pPr>
            <a:r>
              <a:t>0.9043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91840" y="6263640"/>
            <a:ext cx="1463040" cy="4114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CC71"/>
                </a:solidFill>
              </a:defRPr>
            </a:pPr>
            <a:r>
              <a:t>0.8101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937760" y="6263640"/>
            <a:ext cx="1463040" cy="4114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CC71"/>
                </a:solidFill>
              </a:defRPr>
            </a:pPr>
            <a:r>
              <a:t>0.2085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83680" y="6263640"/>
            <a:ext cx="1463040" cy="4114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CC71"/>
                </a:solidFill>
              </a:defRPr>
            </a:pPr>
            <a:r>
              <a:t>0.4071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29600" y="6263640"/>
            <a:ext cx="1463040" cy="4114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CC71"/>
                </a:solidFill>
              </a:defRPr>
            </a:pPr>
            <a:r>
              <a:t>0.2705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Baseline vs 改进版 核心指标对比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56032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指标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097280"/>
            <a:ext cx="283464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Baseline (XGBoost)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292608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改进版 (RandomForest)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1097280"/>
            <a:ext cx="228600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256032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Mean AUC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691640"/>
            <a:ext cx="283464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0.8043 ± 0.039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292608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ECC71"/>
                </a:solidFill>
              </a:defRPr>
            </a:pPr>
            <a:r>
              <a:t>0.8101 ± 0.043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691640"/>
            <a:ext cx="228600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ECC71"/>
                </a:solidFill>
              </a:defRPr>
            </a:pPr>
            <a:r>
              <a:t>+0.006 (+0.7%)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21992"/>
            <a:ext cx="256032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221992"/>
            <a:ext cx="283464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未报告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21992"/>
            <a:ext cx="292608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ECC71"/>
                </a:solidFill>
              </a:defRPr>
            </a:pPr>
            <a:r>
              <a:t>0.9043 ± 0.028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221992"/>
            <a:ext cx="228600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0096D6"/>
                </a:solidFill>
              </a:defRPr>
            </a:pPr>
            <a:r>
              <a:t>新增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52344"/>
            <a:ext cx="256032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Precision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2752344"/>
            <a:ext cx="283464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未报告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752344"/>
            <a:ext cx="292608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ECC71"/>
                </a:solidFill>
              </a:defRPr>
            </a:pPr>
            <a:r>
              <a:t>0.2085 ± 0.097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752344"/>
            <a:ext cx="228600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0096D6"/>
                </a:solidFill>
              </a:defRPr>
            </a:pPr>
            <a:r>
              <a:t>新增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82696"/>
            <a:ext cx="256032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Recall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3282696"/>
            <a:ext cx="283464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未报告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82696"/>
            <a:ext cx="292608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ECC71"/>
                </a:solidFill>
              </a:defRPr>
            </a:pPr>
            <a:r>
              <a:t>0.4071 ± 0.094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3282696"/>
            <a:ext cx="228600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0096D6"/>
                </a:solidFill>
              </a:defRPr>
            </a:pPr>
            <a:r>
              <a:t>新增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13048"/>
            <a:ext cx="256032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F1 Score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3813048"/>
            <a:ext cx="283464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0.79 (macro)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813048"/>
            <a:ext cx="292608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ECC71"/>
                </a:solidFill>
              </a:defRPr>
            </a:pPr>
            <a:r>
              <a:t>0.2705 ± 0.100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3813048"/>
            <a:ext cx="228600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39C12"/>
                </a:solidFill>
              </a:defRPr>
            </a:pPr>
            <a:r>
              <a:t>不同计算方式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343400"/>
            <a:ext cx="256032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类别平衡处理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4343400"/>
            <a:ext cx="283464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343400"/>
            <a:ext cx="292608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ECC71"/>
                </a:solidFill>
              </a:defRPr>
            </a:pPr>
            <a:r>
              <a:t>class_weight='balanced'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4343400"/>
            <a:ext cx="228600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ECC71"/>
                </a:solidFill>
              </a:defRPr>
            </a:pPr>
            <a:r>
              <a:t>修复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873752"/>
            <a:ext cx="256032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数据泄露防护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0" y="4873752"/>
            <a:ext cx="283464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无Pipeline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873752"/>
            <a:ext cx="292608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ECC71"/>
                </a:solidFill>
              </a:defRPr>
            </a:pPr>
            <a:r>
              <a:t>Pipeline标准Scaler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4873752"/>
            <a:ext cx="228600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ECC71"/>
                </a:solidFill>
              </a:defRPr>
            </a:pPr>
            <a:r>
              <a:t>修复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404104"/>
            <a:ext cx="256032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样本数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0" y="5404104"/>
            <a:ext cx="283464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909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5404104"/>
            <a:ext cx="292608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ECC71"/>
                </a:solidFill>
              </a:defRPr>
            </a:pPr>
            <a:r>
              <a:t>909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26880" y="5404104"/>
            <a:ext cx="228600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一致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934456"/>
            <a:ext cx="256032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特征数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0" y="5934456"/>
            <a:ext cx="283464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10 (7有效)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934456"/>
            <a:ext cx="292608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ECC71"/>
                </a:solidFill>
              </a:defRPr>
            </a:pPr>
            <a:r>
              <a:t>10 (10有效)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26880" y="5934456"/>
            <a:ext cx="228600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一致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各折AUC对比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371600" cy="4572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Fold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097280"/>
            <a:ext cx="228600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Baseline AUC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97280"/>
            <a:ext cx="228600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改进版 AUC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097280"/>
            <a:ext cx="5029200" cy="4572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对比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13716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737360"/>
            <a:ext cx="2286000" cy="41148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1920240" y="1737360"/>
            <a:ext cx="1813941" cy="4114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103120" y="17373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0.7935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37360"/>
            <a:ext cx="2286000" cy="41148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4297680" y="1737360"/>
            <a:ext cx="1681353" cy="4114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480560" y="17373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0.7355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691640"/>
            <a:ext cx="50292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74C3C"/>
                </a:solidFill>
              </a:defRPr>
            </a:pPr>
            <a:r>
              <a:t>-0.0580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31720"/>
            <a:ext cx="13716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2377440"/>
            <a:ext cx="2286000" cy="41148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1920240" y="2377440"/>
            <a:ext cx="1959330" cy="4114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2103120" y="2377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0.8571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377440"/>
            <a:ext cx="2286000" cy="41148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4297680" y="2377440"/>
            <a:ext cx="1978075" cy="4114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480560" y="2377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0.8653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2331720"/>
            <a:ext cx="50292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+0.0082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971800"/>
            <a:ext cx="13716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3017520"/>
            <a:ext cx="2286000" cy="41148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1920240" y="3017520"/>
            <a:ext cx="1909953" cy="4114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2103120" y="30175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0.8355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017520"/>
            <a:ext cx="2286000" cy="41148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4297680" y="3017520"/>
            <a:ext cx="1883664" cy="4114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480560" y="30175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0.8240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2971800"/>
            <a:ext cx="50292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74C3C"/>
                </a:solidFill>
              </a:defRPr>
            </a:pPr>
            <a:r>
              <a:t>-0.0115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611879"/>
            <a:ext cx="13716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20240" y="3657599"/>
            <a:ext cx="2286000" cy="41148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33" name="Rounded Rectangle 32"/>
          <p:cNvSpPr/>
          <p:nvPr/>
        </p:nvSpPr>
        <p:spPr>
          <a:xfrm>
            <a:off x="1920240" y="3657599"/>
            <a:ext cx="1809826" cy="4114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2103120" y="365759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0.7917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657599"/>
            <a:ext cx="2286000" cy="41148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36" name="Rounded Rectangle 35"/>
          <p:cNvSpPr/>
          <p:nvPr/>
        </p:nvSpPr>
        <p:spPr>
          <a:xfrm>
            <a:off x="4297680" y="3657599"/>
            <a:ext cx="1827885" cy="4114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480560" y="365759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0.7996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3611879"/>
            <a:ext cx="50292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+0.0079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251960"/>
            <a:ext cx="13716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20240" y="4297680"/>
            <a:ext cx="2286000" cy="41148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41" name="Rounded Rectangle 40"/>
          <p:cNvSpPr/>
          <p:nvPr/>
        </p:nvSpPr>
        <p:spPr>
          <a:xfrm>
            <a:off x="1920240" y="4297680"/>
            <a:ext cx="1700326" cy="4114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2103120" y="4297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0.7438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80" y="4297680"/>
            <a:ext cx="2286000" cy="41148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44" name="Rounded Rectangle 43"/>
          <p:cNvSpPr/>
          <p:nvPr/>
        </p:nvSpPr>
        <p:spPr>
          <a:xfrm>
            <a:off x="4297680" y="4297680"/>
            <a:ext cx="1888007" cy="4114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4480560" y="4297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0.8259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75120" y="4251960"/>
            <a:ext cx="50292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+0.0821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029200"/>
            <a:ext cx="1371600" cy="5029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AVG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20240" y="5029200"/>
            <a:ext cx="2286000" cy="5029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39C12"/>
                </a:solidFill>
              </a:defRPr>
            </a:pPr>
            <a:r>
              <a:t>0.8043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97680" y="5029200"/>
            <a:ext cx="2286000" cy="5029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0.8101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75120" y="5029200"/>
            <a:ext cx="5029200" cy="5029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+0.0058 (+0.7%)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关键差异分析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502920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</a:defRPr>
            </a:pPr>
            <a:r>
              <a:t>Baseline 已知问题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✗  3个ECG特征全部缺失NaN，未有效处理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✗  类别严重不平衡(4.1% vs 95.9%)无补偿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✗  无Pipeline，标准化可能泄露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✗  Fold间AUC波动大(0.74~0.86)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✗  仅报告AUC，缺少其他分类指标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</a:defRPr>
            </a:pPr>
            <a:r>
              <a:t>改进版 解决方案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✓  SimpleImputer(median)填充缺失值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51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✓  class_weight='balanced'自动调整权重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✓  Pipeline封装，数据零泄露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931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✓  StratifiedKFold保证类别一致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572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✓  完整报告Precision/Recall/F1/AUC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总结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182880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</a:defRPr>
            </a:pPr>
            <a:r>
              <a:t>AUC提升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0.8043 → 0.8101 (+0.7%)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</a:defRPr>
            </a:pPr>
            <a:r>
              <a:t>新增指标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920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Accuracy 90.4% | Precision 20.9% | Recall 40.7% | F1 27.1%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核心修复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68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类别不平衡处理 + 数据泄露防护 + 分层交叉验证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后续优化建议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</a:defRPr>
            </a:pPr>
            <a:r>
              <a:t>1. 数据层面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023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SMOTE/ADASYN过采样正样本，或收集更多CAD+数据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</a:defRPr>
            </a:pPr>
            <a:r>
              <a:t>2. 模型层面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663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尝试XGBoost/LightGBM + class_weight，贝叶斯超参优化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</a:defRPr>
            </a:pPr>
            <a:r>
              <a:t>3. 阈值优化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5303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当前0.5 → 调整为0.3以提升Recall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</a:defRPr>
            </a:pPr>
            <a:r>
              <a:t>4. 特征工程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943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ST段偏移和灌注指数为最重要特征，可重点优化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5943600"/>
            <a:ext cx="7589520" cy="64008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Baseline AUC: 0.8043  →  改进版 AUC: 0.8101  |  核心问题已修复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