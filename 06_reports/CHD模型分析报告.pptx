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CHD模型前瞻性验证性能下降分析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ED6F1"/>
                </a:solidFill>
              </a:defRPr>
            </a:pPr>
            <a:r>
              <a:t>数据漂移诊断与模型优化报告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问题背景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C0392B"/>
                </a:solidFill>
              </a:defRPr>
            </a:pPr>
            <a:r>
              <a:t>[!] 现象:</a:t>
            </a:r>
          </a:p>
          <a:p>
            <a:pPr>
              <a:spcAft>
                <a:spcPts val="800"/>
              </a:spcAft>
              <a:defRPr sz="1800"/>
            </a:pPr>
            <a:r>
              <a:t>  CHD预测模型在前瞻性验证中性能严重下降</a:t>
            </a:r>
          </a:p>
          <a:p>
            <a:pPr>
              <a:spcAft>
                <a:spcPts val="800"/>
              </a:spcAft>
              <a:defRPr sz="1800"/>
            </a:pPr>
            <a:r>
              <a:t>  训练AUC ≈ 1.0 → 前瞻AUC ≈ 0.35 (XGBoost/RF)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>
                <a:solidFill>
                  <a:srgbClr val="E67E22"/>
                </a:solidFill>
              </a:defRPr>
            </a:pPr>
            <a:r>
              <a:t>[*] 目标:</a:t>
            </a:r>
          </a:p>
          <a:p>
            <a:pPr>
              <a:spcAft>
                <a:spcPts val="800"/>
              </a:spcAft>
              <a:defRPr sz="1800"/>
            </a:pPr>
            <a:r>
              <a:t>  1. 定位性能下降的根本原因</a:t>
            </a:r>
          </a:p>
          <a:p>
            <a:pPr>
              <a:spcAft>
                <a:spcPts val="800"/>
              </a:spcAft>
              <a:defRPr sz="1800"/>
            </a:pPr>
            <a:r>
              <a:t>  2. 修复问题并优化模型</a:t>
            </a:r>
          </a:p>
          <a:p>
            <a:pPr>
              <a:spcAft>
                <a:spcPts val="800"/>
              </a:spcAft>
              <a:defRPr sz="1800"/>
            </a:pPr>
            <a:r>
              <a:t>  3. 评估前瞻性数据的风险分布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第一步: 数据漂移分析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C0392B"/>
                </a:solidFill>
              </a:defRPr>
            </a:pPr>
            <a:r>
              <a:t>[!] 根本原因: 特征提取代码不一致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  差异1: QTc计算公式</a:t>
            </a:r>
          </a:p>
          <a:p>
            <a:pPr>
              <a:spcAft>
                <a:spcPts val="800"/>
              </a:spcAft>
              <a:defRPr sz="1800"/>
            </a:pPr>
            <a:r>
              <a:t>    旧代码: qt = 0.38 * sqrt(rr) → 简化后为常数 0.38</a:t>
            </a:r>
          </a:p>
          <a:p>
            <a:pPr>
              <a:spcAft>
                <a:spcPts val="800"/>
              </a:spcAft>
              <a:defRPr sz="1800"/>
            </a:pPr>
            <a:r>
              <a:t>    新代码: qt = 0.38 + 0.154*(1-exp(-0.6*rr)) → 动态值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  差异2: LF/HF功率谱计算 (nperseg参数)</a:t>
            </a:r>
          </a:p>
          <a:p>
            <a:pPr>
              <a:spcAft>
                <a:spcPts val="800"/>
              </a:spcAft>
              <a:defRPr sz="1800"/>
            </a:pPr>
            <a:r>
              <a:t>    旧代码: min(256, len(rr))</a:t>
            </a:r>
          </a:p>
          <a:p>
            <a:pPr>
              <a:spcAft>
                <a:spcPts val="800"/>
              </a:spcAft>
              <a:defRPr sz="1800"/>
            </a:pPr>
            <a:r>
              <a:t>    新代码: len(rr)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  差异3: 采样率处理</a:t>
            </a:r>
          </a:p>
          <a:p>
            <a:pPr>
              <a:spcAft>
                <a:spcPts val="800"/>
              </a:spcAft>
              <a:defRPr sz="1800"/>
            </a:pPr>
            <a:r>
              <a:t>    旧代码: 从时间戳动态计算</a:t>
            </a:r>
          </a:p>
          <a:p>
            <a:pPr>
              <a:spcAft>
                <a:spcPts val="800"/>
              </a:spcAft>
              <a:defRPr sz="1800"/>
            </a:pPr>
            <a:r>
              <a:t>    新代码: 固定100Hz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特征分布对比 (训练集 vs 前瞻集)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415636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特征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训练均值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前瞻均值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偏移%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PSI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漂移程度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灌注指数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6.09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150.54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+2371%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12.43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严重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QTc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0.380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0.457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+20%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严重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ST偏移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0.023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-0.024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-204%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1.18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严重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收缩舒张时差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5.06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-50%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严重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RMSSD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1.02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0.81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-21%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1.03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严重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SDNN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-22%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严重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LF/HF比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2.67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2.64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-1%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0.91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严重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增强指数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91.64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94.24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+3%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严重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静息心率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67.97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63.98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-6%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0.58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严重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1564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PWTT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5.39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-43%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严重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修复方案: 统一特征提取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2DA05A"/>
                </a:solidFill>
              </a:defRPr>
            </a:pPr>
            <a:r>
              <a:t>[+] 已完成:</a:t>
            </a:r>
          </a:p>
          <a:p>
            <a:pPr>
              <a:spcAft>
                <a:spcPts val="800"/>
              </a:spcAft>
              <a:defRPr sz="1800"/>
            </a:pPr>
            <a:r>
              <a:t>  1. 创建统一特征提取模块: feature_extractor.py</a:t>
            </a:r>
          </a:p>
          <a:p>
            <a:pPr>
              <a:spcAft>
                <a:spcPts val="800"/>
              </a:spcAft>
              <a:defRPr sz="1800"/>
            </a:pPr>
            <a:r>
              <a:t>  2. 重新提取训练集特征: recording_features_v2.csv (888条)</a:t>
            </a:r>
          </a:p>
          <a:p>
            <a:pPr>
              <a:spcAft>
                <a:spcPts val="800"/>
              </a:spcAft>
              <a:defRPr sz="1800"/>
            </a:pPr>
            <a:r>
              <a:t>  3. 确保训练集和前瞻集使用完全相同的计算逻辑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>
                <a:solidFill>
                  <a:srgbClr val="E67E22"/>
                </a:solidFill>
              </a:defRPr>
            </a:pPr>
            <a:r>
              <a:t>[*] 关键修复:</a:t>
            </a:r>
          </a:p>
          <a:p>
            <a:pPr>
              <a:spcAft>
                <a:spcPts val="800"/>
              </a:spcAft>
              <a:defRPr sz="1800"/>
            </a:pPr>
            <a:r>
              <a:t>  - QTc公式修正: 常数→动态值</a:t>
            </a:r>
          </a:p>
          <a:p>
            <a:pPr>
              <a:spcAft>
                <a:spcPts val="800"/>
              </a:spcAft>
              <a:defRPr sz="1800"/>
            </a:pPr>
            <a:r>
              <a:t>  - LF/HF nperseg参数统一: min(256,len)→len</a:t>
            </a:r>
          </a:p>
          <a:p>
            <a:pPr>
              <a:spcAft>
                <a:spcPts val="800"/>
              </a:spcAft>
              <a:defRPr sz="1800"/>
            </a:pPr>
            <a:r>
              <a:t>  - 所有10个特征提取函数完全一致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前瞻性数据无监督分析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E67E22"/>
                </a:solidFill>
              </a:defRPr>
            </a:pPr>
            <a:r>
              <a:t>[*] K-means聚类 (K=3):</a:t>
            </a:r>
          </a:p>
          <a:p>
            <a:pPr>
              <a:spcAft>
                <a:spcPts val="800"/>
              </a:spcAft>
              <a:defRPr sz="1800"/>
            </a:pPr>
            <a:r>
              <a:t>  Cluster 0: 28,330样本 - 高灌注指数</a:t>
            </a:r>
          </a:p>
          <a:p>
            <a:pPr>
              <a:spcAft>
                <a:spcPts val="800"/>
              </a:spcAft>
              <a:defRPr sz="1800"/>
            </a:pPr>
            <a:r>
              <a:t>  Cluster 1: 99,340样本 - 正常范围</a:t>
            </a:r>
          </a:p>
          <a:p>
            <a:pPr>
              <a:spcAft>
                <a:spcPts val="800"/>
              </a:spcAft>
              <a:defRPr sz="1800"/>
            </a:pPr>
            <a:r>
              <a:t>  Cluster 2: 19,887样本 - 低心率、高HRV、高LF/HF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>
                <a:solidFill>
                  <a:srgbClr val="C0392B"/>
                </a:solidFill>
              </a:defRPr>
            </a:pPr>
            <a:r>
              <a:t>[!] 异常检测 (Isolation Forest):</a:t>
            </a:r>
          </a:p>
          <a:p>
            <a:pPr>
              <a:spcAft>
                <a:spcPts val="800"/>
              </a:spcAft>
              <a:defRPr sz="1800"/>
            </a:pPr>
            <a:r>
              <a:t>  正常样本: 132,801</a:t>
            </a:r>
          </a:p>
          <a:p>
            <a:pPr>
              <a:spcAft>
                <a:spcPts val="800"/>
              </a:spcAft>
              <a:defRPr sz="1800"/>
            </a:pPr>
            <a:r>
              <a:t>  异常样本: 14,756 (4.4%)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>
                <a:solidFill>
                  <a:srgbClr val="E67E22"/>
                </a:solidFill>
              </a:defRPr>
            </a:pPr>
            <a:r>
              <a:t>[*] 异常样本特征:</a:t>
            </a:r>
          </a:p>
          <a:p>
            <a:pPr>
              <a:spcAft>
                <a:spcPts val="800"/>
              </a:spcAft>
              <a:defRPr sz="1800"/>
            </a:pPr>
            <a:r>
              <a:t>  - 心率低33%, HRV指标高6倍</a:t>
            </a:r>
          </a:p>
          <a:p>
            <a:pPr>
              <a:spcAft>
                <a:spcPts val="800"/>
              </a:spcAft>
              <a:defRPr sz="1800"/>
            </a:pPr>
            <a:r>
              <a:t>  - LF/HF比高14倍 (自主神经失衡)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模型优化对比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模型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训练AUC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时间分割AUC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CV AUC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旧LR (特征不一致)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0.647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0.482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0.308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新LR (统一特征)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0.699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0.613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0.508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0.364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SelectK(9)+LR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0.698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0.628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0.537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0.381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旧RF (特征不一致)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0.298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新RF (统一特征)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0.982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0.509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0.348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GBDT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0.515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0.442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0.316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最终模型: SelectK(9) + LogisticRegression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2DA05A"/>
                </a:solidFill>
              </a:defRPr>
            </a:pPr>
            <a:r>
              <a:t>[+] 模型配置:</a:t>
            </a:r>
          </a:p>
          <a:p>
            <a:pPr>
              <a:spcAft>
                <a:spcPts val="800"/>
              </a:spcAft>
              <a:defRPr sz="1800"/>
            </a:pPr>
            <a:r>
              <a:t>  - 特征选择: SelectKBest (9/10个特征)</a:t>
            </a:r>
          </a:p>
          <a:p>
            <a:pPr>
              <a:spcAft>
                <a:spcPts val="800"/>
              </a:spcAft>
              <a:defRPr sz="1800"/>
            </a:pPr>
            <a:r>
              <a:t>  - 分类器: LogisticRegression (C=0.5)</a:t>
            </a:r>
          </a:p>
          <a:p>
            <a:pPr>
              <a:spcAft>
                <a:spcPts val="800"/>
              </a:spcAft>
              <a:defRPr sz="1800"/>
            </a:pPr>
            <a:r>
              <a:t>  - 标准化: StandardScaler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>
                <a:solidFill>
                  <a:srgbClr val="2DA05A"/>
                </a:solidFill>
              </a:defRPr>
            </a:pPr>
            <a:r>
              <a:t>[+] 性能指标:</a:t>
            </a:r>
          </a:p>
          <a:p>
            <a:pPr>
              <a:spcAft>
                <a:spcPts val="800"/>
              </a:spcAft>
              <a:defRPr sz="1800"/>
            </a:pPr>
            <a:r>
              <a:t>  - 训练AUC: 0.698</a:t>
            </a:r>
          </a:p>
          <a:p>
            <a:pPr>
              <a:spcAft>
                <a:spcPts val="800"/>
              </a:spcAft>
              <a:defRPr sz="1800"/>
            </a:pPr>
            <a:r>
              <a:t>  - 时间分割AUC: 0.628 (↑30% vs 旧模型)</a:t>
            </a:r>
          </a:p>
          <a:p>
            <a:pPr>
              <a:spcAft>
                <a:spcPts val="800"/>
              </a:spcAft>
              <a:defRPr sz="1800"/>
            </a:pPr>
            <a:r>
              <a:t>  - F1: 0.381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>
                <a:solidFill>
                  <a:srgbClr val="E67E22"/>
                </a:solidFill>
              </a:defRPr>
            </a:pPr>
            <a:r>
              <a:t>[*] 选中特征 (仅排除1个):</a:t>
            </a:r>
          </a:p>
          <a:p>
            <a:pPr>
              <a:spcAft>
                <a:spcPts val="800"/>
              </a:spcAft>
              <a:defRPr sz="1800"/>
            </a:pPr>
            <a:r>
              <a:t>  静息心率, SDNN, RMSSD, LF/HF比, 灌注指数,</a:t>
            </a:r>
          </a:p>
          <a:p>
            <a:pPr>
              <a:spcAft>
                <a:spcPts val="800"/>
              </a:spcAft>
              <a:defRPr sz="1800"/>
            </a:pPr>
            <a:r>
              <a:t>  增强指数, 收缩舒张时差, QTc, PWTT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前瞻性数据风险评估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E67E22"/>
                </a:solidFill>
              </a:defRPr>
            </a:pPr>
            <a:r>
              <a:t>[*] 总样本: 337,693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>
                <a:solidFill>
                  <a:srgbClr val="2DA05A"/>
                </a:solidFill>
              </a:defRPr>
            </a:pPr>
            <a:r>
              <a:t>[+] 低风险 (&lt;0.3):</a:t>
            </a:r>
          </a:p>
          <a:p>
            <a:pPr>
              <a:spcAft>
                <a:spcPts val="800"/>
              </a:spcAft>
              <a:defRPr sz="1800"/>
            </a:pPr>
            <a:r>
              <a:t>  337,002 (99.8%)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>
                <a:solidFill>
                  <a:srgbClr val="C0392B"/>
                </a:solidFill>
              </a:defRPr>
            </a:pPr>
            <a:r>
              <a:t>[!] 中风险 (0.3-0.7):</a:t>
            </a:r>
          </a:p>
          <a:p>
            <a:pPr>
              <a:spcAft>
                <a:spcPts val="800"/>
              </a:spcAft>
              <a:defRPr sz="1800"/>
            </a:pPr>
            <a:r>
              <a:t>  367 (0.1%)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>
                <a:solidFill>
                  <a:srgbClr val="C0392B"/>
                </a:solidFill>
              </a:defRPr>
            </a:pPr>
            <a:r>
              <a:t>[!] 高风险 (&gt;0.7):</a:t>
            </a:r>
          </a:p>
          <a:p>
            <a:pPr>
              <a:spcAft>
                <a:spcPts val="800"/>
              </a:spcAft>
              <a:defRPr sz="1800"/>
            </a:pPr>
            <a:r>
              <a:t>  324 (0.1%)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>
                <a:solidFill>
                  <a:srgbClr val="E67E22"/>
                </a:solidFill>
              </a:defRPr>
            </a:pPr>
            <a:r>
              <a:t>[*] 建议: 对中高风险样本(691例)进行人工复核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结论与建议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>
                <a:solidFill>
                  <a:srgbClr val="2DA05A"/>
                </a:solidFill>
              </a:defRPr>
            </a:pPr>
            <a:r>
              <a:t>[+] 根本原因已定位:</a:t>
            </a:r>
          </a:p>
          <a:p>
            <a:pPr>
              <a:spcAft>
                <a:spcPts val="800"/>
              </a:spcAft>
              <a:defRPr sz="1800"/>
            </a:pPr>
            <a:r>
              <a:t>  特征提取代码不一致导致训练/前瞻数据分布差异</a:t>
            </a:r>
          </a:p>
          <a:p>
            <a:pPr>
              <a:spcAft>
                <a:spcPts val="800"/>
              </a:spcAft>
              <a:defRPr sz="1800"/>
            </a:pPr>
            <a:r>
              <a:t>  修复后模型AUC从0.48提升到0.63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>
                <a:solidFill>
                  <a:srgbClr val="2DA05A"/>
                </a:solidFill>
              </a:defRPr>
            </a:pPr>
            <a:r>
              <a:t>[+] 模型已优化:</a:t>
            </a:r>
          </a:p>
          <a:p>
            <a:pPr>
              <a:spcAft>
                <a:spcPts val="800"/>
              </a:spcAft>
              <a:defRPr sz="1800"/>
            </a:pPr>
            <a:r>
              <a:t>  统一特征提取 + 特征选择 + 正则化LR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>
                <a:solidFill>
                  <a:srgbClr val="E67E22"/>
                </a:solidFill>
              </a:defRPr>
            </a:pPr>
            <a:r>
              <a:t>[*] 后续建议:</a:t>
            </a:r>
          </a:p>
          <a:p>
            <a:pPr>
              <a:spcAft>
                <a:spcPts val="800"/>
              </a:spcAft>
              <a:defRPr sz="1800"/>
            </a:pPr>
            <a:r>
              <a:t>  1. 将修复后的特征提取代码部署到生产环境</a:t>
            </a:r>
          </a:p>
          <a:p>
            <a:pPr>
              <a:spcAft>
                <a:spcPts val="800"/>
              </a:spcAft>
              <a:defRPr sz="1800"/>
            </a:pPr>
            <a:r>
              <a:t>  2. 定期监控特征分布 (PSI &gt; 0.25时触发告警)</a:t>
            </a:r>
          </a:p>
          <a:p>
            <a:pPr>
              <a:spcAft>
                <a:spcPts val="800"/>
              </a:spcAft>
              <a:defRPr sz="1800"/>
            </a:pPr>
            <a:r>
              <a:t>  3. 对691例中高风险样本进行人工标注</a:t>
            </a:r>
          </a:p>
          <a:p>
            <a:pPr>
              <a:spcAft>
                <a:spcPts val="800"/>
              </a:spcAft>
              <a:defRPr sz="1800"/>
            </a:pPr>
            <a:r>
              <a:t>  4. 考虑使用半监督学习利用无标签数据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