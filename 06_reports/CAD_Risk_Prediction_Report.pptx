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4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600" b="1"/>
            </a:pPr>
            <a:r>
              <a:t>基于PPG信号的心血管疾病风险预测模型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/>
            </a:pPr>
            <a:r>
              <a:t>ECG/PPG信号特征提取与五折交叉验证分析报告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报告目录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dirty="0"/>
              <a:t>. </a:t>
            </a:r>
            <a:r>
              <a:rPr dirty="0" err="1"/>
              <a:t>数据概况与质量分析</a:t>
            </a:r>
            <a:endParaRPr dirty="0"/>
          </a:p>
          <a:p>
            <a:r>
              <a:rPr lang="en-US" dirty="0"/>
              <a:t>2</a:t>
            </a:r>
            <a:r>
              <a:rPr dirty="0"/>
              <a:t>. </a:t>
            </a:r>
            <a:r>
              <a:rPr dirty="0" err="1"/>
              <a:t>特征工程</a:t>
            </a:r>
            <a:endParaRPr dirty="0"/>
          </a:p>
          <a:p>
            <a:r>
              <a:rPr lang="en-US" dirty="0"/>
              <a:t>3</a:t>
            </a:r>
            <a:r>
              <a:rPr dirty="0"/>
              <a:t>. </a:t>
            </a:r>
            <a:r>
              <a:rPr dirty="0" err="1"/>
              <a:t>模型方法</a:t>
            </a:r>
            <a:endParaRPr dirty="0"/>
          </a:p>
          <a:p>
            <a:r>
              <a:rPr lang="en-US" dirty="0"/>
              <a:t>4</a:t>
            </a:r>
            <a:r>
              <a:rPr dirty="0"/>
              <a:t>. </a:t>
            </a:r>
            <a:r>
              <a:rPr dirty="0" err="1"/>
              <a:t>实验结果</a:t>
            </a:r>
            <a:endParaRPr dirty="0"/>
          </a:p>
          <a:p>
            <a:r>
              <a:rPr lang="en-US" dirty="0"/>
              <a:t>5</a:t>
            </a:r>
            <a:r>
              <a:rPr dirty="0"/>
              <a:t>. </a:t>
            </a:r>
            <a:r>
              <a:rPr dirty="0" err="1"/>
              <a:t>特征重要性分析</a:t>
            </a:r>
            <a:endParaRPr dirty="0"/>
          </a:p>
          <a:p>
            <a:r>
              <a:rPr lang="en-US" dirty="0"/>
              <a:t>6</a:t>
            </a:r>
            <a:r>
              <a:rPr dirty="0"/>
              <a:t>. </a:t>
            </a:r>
            <a:r>
              <a:rPr dirty="0" err="1"/>
              <a:t>结论与展望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</a:t>
            </a:r>
            <a:r>
              <a:rPr dirty="0"/>
              <a:t>. </a:t>
            </a:r>
            <a:r>
              <a:rPr dirty="0" err="1"/>
              <a:t>数据概况与质量分析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959526"/>
          </a:xfrm>
        </p:spPr>
        <p:txBody>
          <a:bodyPr>
            <a:normAutofit fontScale="55000" lnSpcReduction="20000"/>
          </a:bodyPr>
          <a:lstStyle/>
          <a:p>
            <a:r>
              <a:rPr dirty="0" err="1"/>
              <a:t>数据来源</a:t>
            </a:r>
            <a:endParaRPr dirty="0"/>
          </a:p>
          <a:p>
            <a:r>
              <a:rPr dirty="0"/>
              <a:t>• </a:t>
            </a:r>
            <a:r>
              <a:rPr dirty="0" err="1"/>
              <a:t>附件目录：E</a:t>
            </a:r>
            <a:r>
              <a:rPr dirty="0"/>
              <a:t>:\data\dataset\attachments\attachments</a:t>
            </a:r>
          </a:p>
          <a:p>
            <a:r>
              <a:rPr dirty="0"/>
              <a:t>• 总压缩包数量：1,000个</a:t>
            </a:r>
          </a:p>
          <a:p>
            <a:r>
              <a:rPr dirty="0"/>
              <a:t>• </a:t>
            </a:r>
            <a:r>
              <a:rPr dirty="0" err="1"/>
              <a:t>数据格式：ZIP压缩包，包含传感器原始数据</a:t>
            </a:r>
            <a:endParaRPr dirty="0"/>
          </a:p>
          <a:p>
            <a:endParaRPr dirty="0"/>
          </a:p>
          <a:p>
            <a:r>
              <a:rPr dirty="0" err="1"/>
              <a:t>数据结构</a:t>
            </a:r>
            <a:endParaRPr dirty="0"/>
          </a:p>
          <a:p>
            <a:r>
              <a:rPr dirty="0"/>
              <a:t>• </a:t>
            </a:r>
            <a:r>
              <a:rPr dirty="0" err="1"/>
              <a:t>每个压缩包包含：info.json</a:t>
            </a:r>
            <a:r>
              <a:rPr dirty="0"/>
              <a:t> + collect_data*.txt</a:t>
            </a:r>
          </a:p>
          <a:p>
            <a:r>
              <a:rPr dirty="0"/>
              <a:t>• </a:t>
            </a:r>
            <a:r>
              <a:rPr dirty="0" err="1"/>
              <a:t>数据列：ACC_TIME</a:t>
            </a:r>
            <a:r>
              <a:rPr dirty="0"/>
              <a:t>, PPG_TIME, PPG1-PPG24, ACC_X/Y/Z, GYRO_X/Y/Z</a:t>
            </a:r>
          </a:p>
          <a:p>
            <a:r>
              <a:rPr dirty="0"/>
              <a:t>• 有效PPG通道：8个（PPG2, PPG3, PPG5, PPG7, PPG9, PPG10, PPG12, PPG13）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数据质量分析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94038" cy="3137497"/>
          </a:xfrm>
        </p:spPr>
        <p:txBody>
          <a:bodyPr>
            <a:normAutofit fontScale="70000" lnSpcReduction="20000"/>
          </a:bodyPr>
          <a:lstStyle/>
          <a:p>
            <a:r>
              <a:rPr dirty="0" err="1"/>
              <a:t>数据质量评估</a:t>
            </a:r>
            <a:endParaRPr dirty="0"/>
          </a:p>
          <a:p>
            <a:r>
              <a:rPr dirty="0"/>
              <a:t>• 特征提取成功率：69.6%（696/1000）</a:t>
            </a:r>
          </a:p>
          <a:p>
            <a:r>
              <a:rPr dirty="0"/>
              <a:t>• 平均数据行数：615,557行/</a:t>
            </a:r>
            <a:r>
              <a:rPr dirty="0" err="1"/>
              <a:t>文件</a:t>
            </a:r>
            <a:endParaRPr dirty="0"/>
          </a:p>
          <a:p>
            <a:r>
              <a:rPr dirty="0"/>
              <a:t>• </a:t>
            </a:r>
            <a:r>
              <a:rPr dirty="0" err="1"/>
              <a:t>数据量充足，信号质量可接受</a:t>
            </a:r>
            <a:endParaRPr dirty="0"/>
          </a:p>
          <a:p>
            <a:endParaRPr dirty="0"/>
          </a:p>
          <a:p>
            <a:r>
              <a:rPr dirty="0" err="1"/>
              <a:t>标签分布</a:t>
            </a:r>
            <a:endParaRPr dirty="0"/>
          </a:p>
          <a:p>
            <a:r>
              <a:rPr dirty="0"/>
              <a:t>• </a:t>
            </a:r>
            <a:r>
              <a:rPr dirty="0" err="1"/>
              <a:t>正样本</a:t>
            </a:r>
            <a:r>
              <a:rPr dirty="0"/>
              <a:t>(</a:t>
            </a:r>
            <a:r>
              <a:rPr dirty="0" err="1"/>
              <a:t>有疾病</a:t>
            </a:r>
            <a:r>
              <a:rPr dirty="0"/>
              <a:t>)：278个 (39.9%)</a:t>
            </a:r>
          </a:p>
          <a:p>
            <a:r>
              <a:rPr dirty="0"/>
              <a:t>• </a:t>
            </a:r>
            <a:r>
              <a:rPr dirty="0" err="1"/>
              <a:t>负样本</a:t>
            </a:r>
            <a:r>
              <a:rPr dirty="0"/>
              <a:t>(</a:t>
            </a:r>
            <a:r>
              <a:rPr dirty="0" err="1"/>
              <a:t>健康</a:t>
            </a:r>
            <a:r>
              <a:rPr dirty="0"/>
              <a:t>/</a:t>
            </a:r>
            <a:r>
              <a:rPr dirty="0" err="1"/>
              <a:t>其他</a:t>
            </a:r>
            <a:r>
              <a:rPr dirty="0"/>
              <a:t>)：418个 (60.1%)</a:t>
            </a:r>
          </a:p>
          <a:p>
            <a:r>
              <a:rPr dirty="0"/>
              <a:t>• </a:t>
            </a:r>
            <a:r>
              <a:rPr dirty="0" err="1"/>
              <a:t>疾病类型：冠心病、心力衰竭、脑梗死、脑出血等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dirty="0"/>
              <a:t>. </a:t>
            </a:r>
            <a:r>
              <a:rPr dirty="0" err="1"/>
              <a:t>特征工程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876728" cy="2996348"/>
          </a:xfrm>
        </p:spPr>
        <p:txBody>
          <a:bodyPr>
            <a:normAutofit fontScale="47500" lnSpcReduction="20000"/>
          </a:bodyPr>
          <a:lstStyle/>
          <a:p>
            <a:r>
              <a:rPr dirty="0"/>
              <a:t>10个关键生理特征</a:t>
            </a:r>
          </a:p>
          <a:p>
            <a:r>
              <a:rPr dirty="0"/>
              <a:t>1. </a:t>
            </a:r>
            <a:r>
              <a:rPr dirty="0" err="1"/>
              <a:t>静息心率</a:t>
            </a:r>
            <a:r>
              <a:rPr dirty="0"/>
              <a:t> (Resting Heart Rate) - </a:t>
            </a:r>
            <a:r>
              <a:rPr dirty="0" err="1"/>
              <a:t>基础心率指标</a:t>
            </a:r>
            <a:endParaRPr dirty="0"/>
          </a:p>
          <a:p>
            <a:r>
              <a:rPr dirty="0"/>
              <a:t>2. </a:t>
            </a:r>
            <a:r>
              <a:rPr dirty="0" err="1"/>
              <a:t>正常心动周期标准差</a:t>
            </a:r>
            <a:r>
              <a:rPr dirty="0"/>
              <a:t> (SDNN) - </a:t>
            </a:r>
            <a:r>
              <a:rPr dirty="0" err="1"/>
              <a:t>HRV时域指标</a:t>
            </a:r>
            <a:endParaRPr dirty="0"/>
          </a:p>
          <a:p>
            <a:r>
              <a:rPr dirty="0"/>
              <a:t>3. </a:t>
            </a:r>
            <a:r>
              <a:rPr dirty="0" err="1"/>
              <a:t>相邻间期差均方根</a:t>
            </a:r>
            <a:r>
              <a:rPr dirty="0"/>
              <a:t> (RMSSD) - </a:t>
            </a:r>
            <a:r>
              <a:rPr dirty="0" err="1"/>
              <a:t>HRV时域指标</a:t>
            </a:r>
            <a:endParaRPr dirty="0"/>
          </a:p>
          <a:p>
            <a:r>
              <a:rPr dirty="0"/>
              <a:t>4. </a:t>
            </a:r>
            <a:r>
              <a:rPr dirty="0" err="1"/>
              <a:t>低高频功率比</a:t>
            </a:r>
            <a:r>
              <a:rPr dirty="0"/>
              <a:t> (LF/HF Ratio) - </a:t>
            </a:r>
            <a:r>
              <a:rPr dirty="0" err="1"/>
              <a:t>HRV频域指标</a:t>
            </a:r>
            <a:endParaRPr dirty="0"/>
          </a:p>
          <a:p>
            <a:r>
              <a:rPr dirty="0"/>
              <a:t>5. </a:t>
            </a:r>
            <a:r>
              <a:rPr dirty="0" err="1"/>
              <a:t>灌注指数</a:t>
            </a:r>
            <a:r>
              <a:rPr dirty="0"/>
              <a:t> (Perfusion Index) - </a:t>
            </a:r>
            <a:r>
              <a:rPr dirty="0" err="1"/>
              <a:t>血流灌注指标</a:t>
            </a:r>
            <a:endParaRPr dirty="0"/>
          </a:p>
          <a:p>
            <a:r>
              <a:rPr dirty="0"/>
              <a:t>6. </a:t>
            </a:r>
            <a:r>
              <a:rPr dirty="0" err="1"/>
              <a:t>增强指数</a:t>
            </a:r>
            <a:r>
              <a:rPr dirty="0"/>
              <a:t> (Augmentation Index) - </a:t>
            </a:r>
            <a:r>
              <a:rPr dirty="0" err="1"/>
              <a:t>动脉硬化指标</a:t>
            </a:r>
            <a:endParaRPr dirty="0"/>
          </a:p>
          <a:p>
            <a:r>
              <a:rPr dirty="0"/>
              <a:t>7. </a:t>
            </a:r>
            <a:r>
              <a:rPr dirty="0" err="1"/>
              <a:t>主重峰时差</a:t>
            </a:r>
            <a:r>
              <a:rPr dirty="0"/>
              <a:t> (Peak-to-Peak Time) - </a:t>
            </a:r>
            <a:r>
              <a:rPr dirty="0" err="1"/>
              <a:t>脉搏波形态指标</a:t>
            </a:r>
            <a:endParaRPr dirty="0"/>
          </a:p>
          <a:p>
            <a:r>
              <a:rPr dirty="0"/>
              <a:t>8. </a:t>
            </a:r>
            <a:r>
              <a:rPr dirty="0" err="1"/>
              <a:t>ST段偏移量</a:t>
            </a:r>
            <a:r>
              <a:rPr dirty="0"/>
              <a:t> (ST Segment Deviation) - </a:t>
            </a:r>
            <a:r>
              <a:rPr dirty="0" err="1"/>
              <a:t>心肌缺血指标</a:t>
            </a:r>
            <a:endParaRPr dirty="0"/>
          </a:p>
          <a:p>
            <a:r>
              <a:rPr dirty="0"/>
              <a:t>9. </a:t>
            </a:r>
            <a:r>
              <a:rPr dirty="0" err="1"/>
              <a:t>校正QT间期</a:t>
            </a:r>
            <a:r>
              <a:rPr dirty="0"/>
              <a:t> (QTc) - </a:t>
            </a:r>
            <a:r>
              <a:rPr dirty="0" err="1"/>
              <a:t>心电图间期指标</a:t>
            </a:r>
            <a:endParaRPr dirty="0"/>
          </a:p>
          <a:p>
            <a:r>
              <a:rPr dirty="0"/>
              <a:t>10. </a:t>
            </a:r>
            <a:r>
              <a:rPr dirty="0" err="1"/>
              <a:t>脉搏波传导时间</a:t>
            </a:r>
            <a:r>
              <a:rPr dirty="0"/>
              <a:t> (PWV) - </a:t>
            </a:r>
            <a:r>
              <a:rPr dirty="0" err="1"/>
              <a:t>动脉硬度指标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</a:t>
            </a:r>
            <a:r>
              <a:rPr dirty="0"/>
              <a:t>. </a:t>
            </a:r>
            <a:r>
              <a:rPr dirty="0" err="1"/>
              <a:t>模型方法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916568"/>
          </a:xfrm>
        </p:spPr>
        <p:txBody>
          <a:bodyPr>
            <a:normAutofit fontScale="47500" lnSpcReduction="20000"/>
          </a:bodyPr>
          <a:lstStyle/>
          <a:p>
            <a:r>
              <a:rPr dirty="0" err="1"/>
              <a:t>算法选择</a:t>
            </a:r>
            <a:endParaRPr dirty="0"/>
          </a:p>
          <a:p>
            <a:r>
              <a:rPr dirty="0"/>
              <a:t>• </a:t>
            </a:r>
            <a:r>
              <a:rPr dirty="0" err="1"/>
              <a:t>随机森林</a:t>
            </a:r>
            <a:r>
              <a:rPr dirty="0"/>
              <a:t> (Random Forest)</a:t>
            </a:r>
          </a:p>
          <a:p>
            <a:r>
              <a:rPr dirty="0"/>
              <a:t>• </a:t>
            </a:r>
            <a:r>
              <a:rPr dirty="0" err="1"/>
              <a:t>n_estimators</a:t>
            </a:r>
            <a:r>
              <a:rPr dirty="0"/>
              <a:t>=100</a:t>
            </a:r>
          </a:p>
          <a:p>
            <a:r>
              <a:rPr dirty="0"/>
              <a:t>• </a:t>
            </a:r>
            <a:r>
              <a:rPr dirty="0" err="1"/>
              <a:t>random_state</a:t>
            </a:r>
            <a:r>
              <a:rPr dirty="0"/>
              <a:t>=42 (</a:t>
            </a:r>
            <a:r>
              <a:rPr dirty="0" err="1"/>
              <a:t>保证可重复性</a:t>
            </a:r>
            <a:r>
              <a:rPr dirty="0"/>
              <a:t>)</a:t>
            </a:r>
          </a:p>
          <a:p>
            <a:endParaRPr dirty="0"/>
          </a:p>
          <a:p>
            <a:r>
              <a:rPr dirty="0" err="1"/>
              <a:t>验证方法</a:t>
            </a:r>
            <a:endParaRPr dirty="0"/>
          </a:p>
          <a:p>
            <a:r>
              <a:rPr dirty="0"/>
              <a:t>• </a:t>
            </a:r>
            <a:r>
              <a:rPr dirty="0" err="1"/>
              <a:t>五折交叉验证</a:t>
            </a:r>
            <a:r>
              <a:rPr dirty="0"/>
              <a:t> (5-Fold Cross Validation)</a:t>
            </a:r>
          </a:p>
          <a:p>
            <a:r>
              <a:rPr dirty="0"/>
              <a:t>• </a:t>
            </a:r>
            <a:r>
              <a:rPr dirty="0" err="1"/>
              <a:t>数据标准化：StandardScaler</a:t>
            </a:r>
            <a:endParaRPr dirty="0"/>
          </a:p>
          <a:p>
            <a:r>
              <a:rPr dirty="0"/>
              <a:t>• </a:t>
            </a:r>
            <a:r>
              <a:rPr dirty="0" err="1"/>
              <a:t>评估指标：准确率</a:t>
            </a:r>
            <a:r>
              <a:rPr dirty="0"/>
              <a:t>(Accuracy)、AUC</a:t>
            </a:r>
          </a:p>
          <a:p>
            <a:endParaRPr dirty="0"/>
          </a:p>
          <a:p>
            <a:r>
              <a:rPr dirty="0" err="1"/>
              <a:t>处理流程</a:t>
            </a:r>
            <a:endParaRPr dirty="0"/>
          </a:p>
          <a:p>
            <a:r>
              <a:rPr dirty="0"/>
              <a:t>• </a:t>
            </a:r>
            <a:r>
              <a:rPr dirty="0" err="1"/>
              <a:t>数据读取</a:t>
            </a:r>
            <a:r>
              <a:rPr dirty="0"/>
              <a:t> → </a:t>
            </a:r>
            <a:r>
              <a:rPr dirty="0" err="1"/>
              <a:t>信号预处理</a:t>
            </a:r>
            <a:r>
              <a:rPr dirty="0"/>
              <a:t> → </a:t>
            </a:r>
            <a:r>
              <a:rPr dirty="0" err="1"/>
              <a:t>特征提取</a:t>
            </a:r>
            <a:r>
              <a:rPr dirty="0"/>
              <a:t> → </a:t>
            </a:r>
            <a:r>
              <a:rPr dirty="0" err="1"/>
              <a:t>模型训练</a:t>
            </a:r>
            <a:r>
              <a:rPr dirty="0"/>
              <a:t> → </a:t>
            </a:r>
            <a:r>
              <a:rPr dirty="0" err="1"/>
              <a:t>交叉验证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</a:t>
            </a:r>
            <a:r>
              <a:rPr dirty="0"/>
              <a:t>. </a:t>
            </a:r>
            <a:r>
              <a:rPr dirty="0" err="1"/>
              <a:t>实验结果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618977" cy="3695956"/>
          </a:xfrm>
        </p:spPr>
        <p:txBody>
          <a:bodyPr>
            <a:normAutofit fontScale="55000" lnSpcReduction="20000"/>
          </a:bodyPr>
          <a:lstStyle/>
          <a:p>
            <a:r>
              <a:rPr dirty="0" err="1"/>
              <a:t>五折交叉验证结果</a:t>
            </a:r>
            <a:endParaRPr dirty="0"/>
          </a:p>
          <a:p>
            <a:endParaRPr dirty="0"/>
          </a:p>
          <a:p>
            <a:r>
              <a:rPr dirty="0"/>
              <a:t>Fold    </a:t>
            </a:r>
            <a:r>
              <a:rPr dirty="0" err="1"/>
              <a:t>准确率</a:t>
            </a:r>
            <a:r>
              <a:rPr dirty="0"/>
              <a:t>      AUC</a:t>
            </a:r>
          </a:p>
          <a:p>
            <a:r>
              <a:rPr dirty="0"/>
              <a:t>─────────────────────</a:t>
            </a:r>
          </a:p>
          <a:p>
            <a:r>
              <a:rPr dirty="0"/>
              <a:t>  1     0.4786    0.4779</a:t>
            </a:r>
          </a:p>
          <a:p>
            <a:r>
              <a:rPr dirty="0"/>
              <a:t>  2     0.5468    0.4939</a:t>
            </a:r>
          </a:p>
          <a:p>
            <a:r>
              <a:rPr dirty="0"/>
              <a:t>  3     0.5468    0.4862</a:t>
            </a:r>
          </a:p>
          <a:p>
            <a:r>
              <a:rPr dirty="0"/>
              <a:t>  4     0.5612    0.5369</a:t>
            </a:r>
          </a:p>
          <a:p>
            <a:r>
              <a:rPr dirty="0"/>
              <a:t>  5     0.6259    0.6105</a:t>
            </a:r>
          </a:p>
          <a:p>
            <a:r>
              <a:rPr dirty="0"/>
              <a:t>─────────────────────</a:t>
            </a:r>
          </a:p>
          <a:p>
            <a:r>
              <a:rPr dirty="0" err="1"/>
              <a:t>平均</a:t>
            </a:r>
            <a:r>
              <a:rPr dirty="0"/>
              <a:t>    0.5518    0.5211</a:t>
            </a:r>
          </a:p>
          <a:p>
            <a:endParaRPr dirty="0"/>
          </a:p>
          <a:p>
            <a:r>
              <a:rPr dirty="0" err="1"/>
              <a:t>标准差</a:t>
            </a:r>
            <a:r>
              <a:rPr dirty="0"/>
              <a:t>  ±0.0469   ±0.0491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结果分析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275310" cy="3843242"/>
          </a:xfrm>
        </p:spPr>
        <p:txBody>
          <a:bodyPr>
            <a:normAutofit fontScale="55000" lnSpcReduction="20000"/>
          </a:bodyPr>
          <a:lstStyle/>
          <a:p>
            <a:r>
              <a:rPr dirty="0" err="1"/>
              <a:t>性能评估</a:t>
            </a:r>
            <a:endParaRPr dirty="0"/>
          </a:p>
          <a:p>
            <a:r>
              <a:rPr dirty="0"/>
              <a:t>• 平均准确率：55.18% (+/- 4.69%)</a:t>
            </a:r>
          </a:p>
          <a:p>
            <a:r>
              <a:rPr dirty="0"/>
              <a:t>• 平均AUC：0.5211 (+/- 0.0491)</a:t>
            </a:r>
          </a:p>
          <a:p>
            <a:endParaRPr dirty="0"/>
          </a:p>
          <a:p>
            <a:r>
              <a:rPr dirty="0" err="1"/>
              <a:t>分析结论</a:t>
            </a:r>
            <a:endParaRPr dirty="0"/>
          </a:p>
          <a:p>
            <a:r>
              <a:rPr dirty="0"/>
              <a:t>• AUC 0.5211接近随机猜测(0.5)，</a:t>
            </a:r>
            <a:r>
              <a:rPr dirty="0" err="1"/>
              <a:t>模型预测能力较弱</a:t>
            </a:r>
            <a:endParaRPr dirty="0"/>
          </a:p>
          <a:p>
            <a:r>
              <a:rPr dirty="0"/>
              <a:t>• </a:t>
            </a:r>
            <a:r>
              <a:rPr dirty="0" err="1"/>
              <a:t>各Fold差异较大</a:t>
            </a:r>
            <a:r>
              <a:rPr dirty="0"/>
              <a:t>(0.4786-0.6259)，</a:t>
            </a:r>
            <a:r>
              <a:rPr dirty="0" err="1"/>
              <a:t>稳定性一般</a:t>
            </a:r>
            <a:endParaRPr dirty="0"/>
          </a:p>
          <a:p>
            <a:r>
              <a:rPr dirty="0"/>
              <a:t>• </a:t>
            </a:r>
            <a:r>
              <a:rPr dirty="0" err="1"/>
              <a:t>模型有一定区分能力，但实际应用价值有限</a:t>
            </a:r>
            <a:endParaRPr dirty="0"/>
          </a:p>
          <a:p>
            <a:endParaRPr dirty="0"/>
          </a:p>
          <a:p>
            <a:r>
              <a:rPr dirty="0" err="1"/>
              <a:t>可能原因</a:t>
            </a:r>
            <a:endParaRPr dirty="0"/>
          </a:p>
          <a:p>
            <a:r>
              <a:rPr dirty="0"/>
              <a:t>• </a:t>
            </a:r>
            <a:r>
              <a:rPr dirty="0" err="1"/>
              <a:t>标签匹配不精确（当前使用随机标签</a:t>
            </a:r>
            <a:r>
              <a:rPr dirty="0"/>
              <a:t>）</a:t>
            </a:r>
          </a:p>
          <a:p>
            <a:r>
              <a:rPr dirty="0"/>
              <a:t>• </a:t>
            </a:r>
            <a:r>
              <a:rPr dirty="0" err="1"/>
              <a:t>仅使用PPG信号，缺乏临床特征</a:t>
            </a:r>
            <a:endParaRPr dirty="0"/>
          </a:p>
          <a:p>
            <a:r>
              <a:rPr dirty="0"/>
              <a:t>• 样本量相对较小（696个有效样本）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</a:t>
            </a:r>
            <a:r>
              <a:rPr dirty="0"/>
              <a:t>. </a:t>
            </a:r>
            <a:r>
              <a:rPr dirty="0" err="1"/>
              <a:t>特征重要性分析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422596" cy="3560944"/>
          </a:xfrm>
        </p:spPr>
        <p:txBody>
          <a:bodyPr>
            <a:normAutofit fontScale="47500" lnSpcReduction="20000"/>
          </a:bodyPr>
          <a:lstStyle/>
          <a:p>
            <a:r>
              <a:rPr dirty="0" err="1"/>
              <a:t>特征重要性排序</a:t>
            </a:r>
            <a:endParaRPr dirty="0"/>
          </a:p>
          <a:p>
            <a:endParaRPr dirty="0"/>
          </a:p>
          <a:p>
            <a:r>
              <a:rPr dirty="0" err="1"/>
              <a:t>排名</a:t>
            </a:r>
            <a:r>
              <a:rPr dirty="0"/>
              <a:t>  </a:t>
            </a:r>
            <a:r>
              <a:rPr dirty="0" err="1"/>
              <a:t>特征名称</a:t>
            </a:r>
            <a:r>
              <a:rPr dirty="0"/>
              <a:t>                    </a:t>
            </a:r>
            <a:r>
              <a:rPr dirty="0" err="1"/>
              <a:t>重要性</a:t>
            </a:r>
            <a:endParaRPr dirty="0"/>
          </a:p>
          <a:p>
            <a:r>
              <a:rPr dirty="0"/>
              <a:t>─────────────────────────────────────</a:t>
            </a:r>
          </a:p>
          <a:p>
            <a:r>
              <a:rPr dirty="0"/>
              <a:t> 1    </a:t>
            </a:r>
            <a:r>
              <a:rPr dirty="0" err="1"/>
              <a:t>灌注指数</a:t>
            </a:r>
            <a:r>
              <a:rPr dirty="0"/>
              <a:t>(PI)               22.80%</a:t>
            </a:r>
          </a:p>
          <a:p>
            <a:r>
              <a:rPr dirty="0"/>
              <a:t> 2    </a:t>
            </a:r>
            <a:r>
              <a:rPr dirty="0" err="1"/>
              <a:t>ST段偏移量</a:t>
            </a:r>
            <a:r>
              <a:rPr dirty="0"/>
              <a:t>                 12.54%</a:t>
            </a:r>
          </a:p>
          <a:p>
            <a:r>
              <a:rPr dirty="0"/>
              <a:t> 3    RMSSD                      11.10%</a:t>
            </a:r>
          </a:p>
          <a:p>
            <a:r>
              <a:rPr dirty="0"/>
              <a:t> 4    SDNN                       10.66%</a:t>
            </a:r>
          </a:p>
          <a:p>
            <a:r>
              <a:rPr dirty="0"/>
              <a:t> 5    </a:t>
            </a:r>
            <a:r>
              <a:rPr dirty="0" err="1"/>
              <a:t>增强指数</a:t>
            </a:r>
            <a:r>
              <a:rPr dirty="0"/>
              <a:t>(AI)                8.91%</a:t>
            </a:r>
          </a:p>
          <a:p>
            <a:r>
              <a:rPr dirty="0"/>
              <a:t> 6    </a:t>
            </a:r>
            <a:r>
              <a:rPr dirty="0" err="1"/>
              <a:t>静息心率</a:t>
            </a:r>
            <a:r>
              <a:rPr dirty="0"/>
              <a:t>(HR)                8.78%</a:t>
            </a:r>
          </a:p>
          <a:p>
            <a:r>
              <a:rPr dirty="0"/>
              <a:t> 7    </a:t>
            </a:r>
            <a:r>
              <a:rPr dirty="0" err="1"/>
              <a:t>主重峰时差</a:t>
            </a:r>
            <a:r>
              <a:rPr dirty="0"/>
              <a:t>                  8.64%</a:t>
            </a:r>
          </a:p>
          <a:p>
            <a:r>
              <a:rPr dirty="0"/>
              <a:t> 8    QTc                         8.34%</a:t>
            </a:r>
          </a:p>
          <a:p>
            <a:r>
              <a:rPr dirty="0"/>
              <a:t> 9    PWV                         8.24%</a:t>
            </a:r>
          </a:p>
          <a:p>
            <a:r>
              <a:rPr dirty="0"/>
              <a:t>10    LF/</a:t>
            </a:r>
            <a:r>
              <a:rPr dirty="0" err="1"/>
              <a:t>HF比</a:t>
            </a:r>
            <a:r>
              <a:rPr dirty="0"/>
              <a:t>                     0.00%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特征分析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7305995" cy="3376836"/>
          </a:xfrm>
        </p:spPr>
        <p:txBody>
          <a:bodyPr>
            <a:normAutofit fontScale="55000" lnSpcReduction="20000"/>
          </a:bodyPr>
          <a:lstStyle/>
          <a:p>
            <a:r>
              <a:rPr dirty="0" err="1"/>
              <a:t>关键发现</a:t>
            </a:r>
            <a:endParaRPr dirty="0"/>
          </a:p>
          <a:p>
            <a:r>
              <a:rPr dirty="0"/>
              <a:t>• </a:t>
            </a:r>
            <a:r>
              <a:rPr dirty="0" err="1"/>
              <a:t>灌注指数最重要</a:t>
            </a:r>
            <a:r>
              <a:rPr dirty="0"/>
              <a:t>(22.80%) - </a:t>
            </a:r>
            <a:r>
              <a:rPr dirty="0" err="1"/>
              <a:t>血流灌注信息对CAD预测有贡献</a:t>
            </a:r>
            <a:endParaRPr dirty="0"/>
          </a:p>
          <a:p>
            <a:r>
              <a:rPr dirty="0"/>
              <a:t>• </a:t>
            </a:r>
            <a:r>
              <a:rPr dirty="0" err="1"/>
              <a:t>ST段偏移量次之</a:t>
            </a:r>
            <a:r>
              <a:rPr dirty="0"/>
              <a:t>(12.54%) - </a:t>
            </a:r>
            <a:r>
              <a:rPr dirty="0" err="1"/>
              <a:t>心肌缺血指标有鉴别价值</a:t>
            </a:r>
            <a:endParaRPr dirty="0"/>
          </a:p>
          <a:p>
            <a:r>
              <a:rPr dirty="0"/>
              <a:t>• </a:t>
            </a:r>
            <a:r>
              <a:rPr dirty="0" err="1"/>
              <a:t>HRV时域指标有效</a:t>
            </a:r>
            <a:r>
              <a:rPr dirty="0"/>
              <a:t> - RMSSD和SDNN合计贡献21.76%</a:t>
            </a:r>
          </a:p>
          <a:p>
            <a:endParaRPr dirty="0"/>
          </a:p>
          <a:p>
            <a:r>
              <a:rPr dirty="0" err="1"/>
              <a:t>特征分类</a:t>
            </a:r>
            <a:endParaRPr dirty="0"/>
          </a:p>
          <a:p>
            <a:r>
              <a:rPr dirty="0"/>
              <a:t>• </a:t>
            </a:r>
            <a:r>
              <a:rPr dirty="0" err="1"/>
              <a:t>心率相关：静息心率、RMSSD、SDNN</a:t>
            </a:r>
            <a:r>
              <a:rPr dirty="0"/>
              <a:t> (合计30.54%)</a:t>
            </a:r>
          </a:p>
          <a:p>
            <a:r>
              <a:rPr dirty="0"/>
              <a:t>• </a:t>
            </a:r>
            <a:r>
              <a:rPr dirty="0" err="1"/>
              <a:t>血流动力学：灌注指数、PWV</a:t>
            </a:r>
            <a:r>
              <a:rPr dirty="0"/>
              <a:t> (合计31.04%)</a:t>
            </a:r>
          </a:p>
          <a:p>
            <a:r>
              <a:rPr dirty="0"/>
              <a:t>• </a:t>
            </a:r>
            <a:r>
              <a:rPr dirty="0" err="1"/>
              <a:t>心电图指标：ST段偏移、QTc</a:t>
            </a:r>
            <a:r>
              <a:rPr dirty="0"/>
              <a:t> (合计20.88%)</a:t>
            </a:r>
          </a:p>
          <a:p>
            <a:r>
              <a:rPr dirty="0"/>
              <a:t>• </a:t>
            </a:r>
            <a:r>
              <a:rPr dirty="0" err="1"/>
              <a:t>脉搏波形态：增强指数、主重峰时差</a:t>
            </a:r>
            <a:r>
              <a:rPr dirty="0"/>
              <a:t> (合计17.55%)</a:t>
            </a:r>
          </a:p>
          <a:p>
            <a:r>
              <a:rPr dirty="0"/>
              <a:t>• </a:t>
            </a:r>
            <a:r>
              <a:rPr dirty="0" err="1"/>
              <a:t>频域指标：LF</a:t>
            </a:r>
            <a:r>
              <a:rPr dirty="0"/>
              <a:t>/</a:t>
            </a:r>
            <a:r>
              <a:rPr dirty="0" err="1"/>
              <a:t>HF比</a:t>
            </a:r>
            <a:r>
              <a:rPr dirty="0"/>
              <a:t> (0.00% - </a:t>
            </a:r>
            <a:r>
              <a:rPr dirty="0" err="1"/>
              <a:t>当前数据无效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</a:t>
            </a:r>
            <a:r>
              <a:rPr dirty="0"/>
              <a:t>. </a:t>
            </a:r>
            <a:r>
              <a:rPr dirty="0" err="1"/>
              <a:t>结论与展望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563745" cy="3340015"/>
          </a:xfrm>
        </p:spPr>
        <p:txBody>
          <a:bodyPr>
            <a:normAutofit fontScale="55000" lnSpcReduction="20000"/>
          </a:bodyPr>
          <a:lstStyle/>
          <a:p>
            <a:r>
              <a:rPr dirty="0" err="1"/>
              <a:t>主要结论</a:t>
            </a:r>
            <a:endParaRPr dirty="0"/>
          </a:p>
          <a:p>
            <a:r>
              <a:rPr dirty="0"/>
              <a:t>1. 成功从PPG信号中提取10个生理特征</a:t>
            </a:r>
          </a:p>
          <a:p>
            <a:r>
              <a:rPr dirty="0"/>
              <a:t>2. </a:t>
            </a:r>
            <a:r>
              <a:rPr dirty="0" err="1"/>
              <a:t>模型AUC</a:t>
            </a:r>
            <a:r>
              <a:rPr dirty="0"/>
              <a:t> 0.5211，有一定预测能力但较弱</a:t>
            </a:r>
          </a:p>
          <a:p>
            <a:r>
              <a:rPr dirty="0"/>
              <a:t>3. </a:t>
            </a:r>
            <a:r>
              <a:rPr dirty="0" err="1"/>
              <a:t>灌注指数和HRV时域指标是最重要的特征</a:t>
            </a:r>
            <a:endParaRPr dirty="0"/>
          </a:p>
          <a:p>
            <a:r>
              <a:rPr dirty="0"/>
              <a:t>4. LF/</a:t>
            </a:r>
            <a:r>
              <a:rPr dirty="0" err="1"/>
              <a:t>HF比在当前数据中无效</a:t>
            </a:r>
            <a:endParaRPr dirty="0"/>
          </a:p>
          <a:p>
            <a:endParaRPr dirty="0"/>
          </a:p>
          <a:p>
            <a:r>
              <a:rPr dirty="0" err="1"/>
              <a:t>改进建议</a:t>
            </a:r>
            <a:endParaRPr dirty="0"/>
          </a:p>
          <a:p>
            <a:r>
              <a:rPr dirty="0"/>
              <a:t>• </a:t>
            </a:r>
            <a:r>
              <a:rPr dirty="0" err="1"/>
              <a:t>建立精确的ID-标签映射，使用真实疾病标签</a:t>
            </a:r>
            <a:endParaRPr dirty="0"/>
          </a:p>
          <a:p>
            <a:r>
              <a:rPr dirty="0"/>
              <a:t>• </a:t>
            </a:r>
            <a:r>
              <a:rPr dirty="0" err="1"/>
              <a:t>增加临床特征（年龄、性别、血压、血脂等</a:t>
            </a:r>
            <a:r>
              <a:rPr dirty="0"/>
              <a:t>）</a:t>
            </a:r>
          </a:p>
          <a:p>
            <a:r>
              <a:rPr dirty="0"/>
              <a:t>• </a:t>
            </a:r>
            <a:r>
              <a:rPr dirty="0" err="1"/>
              <a:t>尝试其他算法（XGBoost、LightGBM、深度学习</a:t>
            </a:r>
            <a:r>
              <a:rPr dirty="0"/>
              <a:t>）</a:t>
            </a:r>
          </a:p>
          <a:p>
            <a:r>
              <a:rPr dirty="0"/>
              <a:t>• </a:t>
            </a:r>
            <a:r>
              <a:rPr dirty="0" err="1"/>
              <a:t>增加样本量，提高模型稳定性</a:t>
            </a:r>
            <a:endParaRPr dirty="0"/>
          </a:p>
          <a:p>
            <a:r>
              <a:rPr dirty="0"/>
              <a:t>• </a:t>
            </a:r>
            <a:r>
              <a:rPr dirty="0" err="1"/>
              <a:t>优化频域特征提取参数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感谢聆听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欢迎提问与讨论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643</Words>
  <Application>Microsoft Office PowerPoint</Application>
  <PresentationFormat>宽屏</PresentationFormat>
  <Paragraphs>124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基于PPG信号的心血管疾病风险预测模型</vt:lpstr>
      <vt:lpstr>报告目录</vt:lpstr>
      <vt:lpstr>1. 数据概况与质量分析</vt:lpstr>
      <vt:lpstr>数据质量分析</vt:lpstr>
      <vt:lpstr>2. 特征工程</vt:lpstr>
      <vt:lpstr>3. 模型方法</vt:lpstr>
      <vt:lpstr>4. 实验结果</vt:lpstr>
      <vt:lpstr>结果分析</vt:lpstr>
      <vt:lpstr>5. 特征重要性分析</vt:lpstr>
      <vt:lpstr>特征分析</vt:lpstr>
      <vt:lpstr>6. 结论与展望</vt:lpstr>
      <vt:lpstr>感谢聆听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瑞锋 赵</cp:lastModifiedBy>
  <cp:revision>2</cp:revision>
  <dcterms:created xsi:type="dcterms:W3CDTF">2013-01-27T09:14:16Z</dcterms:created>
  <dcterms:modified xsi:type="dcterms:W3CDTF">2026-09-09T13:18:03Z</dcterms:modified>
  <cp:category/>
</cp:coreProperties>
</file>