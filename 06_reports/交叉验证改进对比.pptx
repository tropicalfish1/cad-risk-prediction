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D6"/>
                </a:solidFill>
              </a:defRPr>
            </a:pPr>
            <a:r>
              <a:t>PPG信号五折交叉验证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改进方案对比分析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114800"/>
            <a:ext cx="36576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基于909例样本 | 10个PPG特征 | RandomForest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改进要点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4864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43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KFold → StratifiedKFold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保证每折类别比例一致，避免验证集单类别问题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4864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手动标准化 →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标准化仅在训练集fit，防止数据泄露到验证集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39"/>
            <a:ext cx="54864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461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添加 class_weight='balanced'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1187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自动调整类别权重，缓解正负样本不平衡(1:23.6)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54864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新增评估指标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补充 Precision / Recall / F1，全面评估模型性能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94959"/>
            <a:ext cx="54864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492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处理全量数据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1499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从10个文件扩展到909例样本，结果更具统计意义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五折交叉验证结果对比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188720"/>
            <a:ext cx="27432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原版 (KFold)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188720"/>
            <a:ext cx="32004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改进版 (StratifiedKFold)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188720"/>
            <a:ext cx="22860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提升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783080"/>
            <a:ext cx="2743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N/A*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783080"/>
            <a:ext cx="32004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0.9043 ± 0.028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8308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22860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377440"/>
            <a:ext cx="27432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N/A*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377440"/>
            <a:ext cx="32004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0.8101 ± 0.043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77440"/>
            <a:ext cx="22860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7180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971800"/>
            <a:ext cx="2743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未报告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71800"/>
            <a:ext cx="32004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0.2085 ± 0.097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97180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新增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66160"/>
            <a:ext cx="22860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566160"/>
            <a:ext cx="27432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未报告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3566160"/>
            <a:ext cx="32004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0.4071 ± 0.094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566160"/>
            <a:ext cx="22860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新增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F1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160520"/>
            <a:ext cx="2743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未报告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4160520"/>
            <a:ext cx="32004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0.2705 ± 0.100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16052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新增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54880"/>
            <a:ext cx="22860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样本数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754880"/>
            <a:ext cx="27432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10个文件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754880"/>
            <a:ext cx="32004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909例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754880"/>
            <a:ext cx="2286000" cy="5029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+8990%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4924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类别平衡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5349240"/>
            <a:ext cx="27432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可能失衡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5349240"/>
            <a:ext cx="32004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2ECC71"/>
                </a:solidFill>
              </a:defRPr>
            </a:pPr>
            <a:r>
              <a:t>分层保证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5349240"/>
            <a:ext cx="2286000" cy="5029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96D6"/>
                </a:solidFill>
              </a:defRPr>
            </a:pPr>
            <a:r>
              <a:t>修复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* 原版仅处理10个文件，数据量不足以产生可靠的统计指标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各折详细结果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9144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097280"/>
            <a:ext cx="146304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097280"/>
            <a:ext cx="146304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097280"/>
            <a:ext cx="164592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146304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097280"/>
            <a:ext cx="128016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097280"/>
            <a:ext cx="201168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正样本/验证集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9144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69164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0.8736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69164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0.7355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91640"/>
            <a:ext cx="16459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0.1364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0.4286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691640"/>
            <a:ext cx="128016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0.2069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691640"/>
            <a:ext cx="20116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7/182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40280"/>
            <a:ext cx="91440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2240280"/>
            <a:ext cx="14630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0.9505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2240280"/>
            <a:ext cx="14630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0.8653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240280"/>
            <a:ext cx="164592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0.4000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240280"/>
            <a:ext cx="14630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0.5714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240280"/>
            <a:ext cx="128016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0.4706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2240280"/>
            <a:ext cx="201168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7/182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88920"/>
            <a:ext cx="9144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278892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0.8846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78892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0.8240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2788920"/>
            <a:ext cx="16459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0.1579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78892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0.3750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788920"/>
            <a:ext cx="128016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0.2222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2788920"/>
            <a:ext cx="20116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8/182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337560"/>
            <a:ext cx="91440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3337560"/>
            <a:ext cx="14630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0.8901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3337560"/>
            <a:ext cx="14630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0.7996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337560"/>
            <a:ext cx="164592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0.1667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337560"/>
            <a:ext cx="146304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0.3750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3337560"/>
            <a:ext cx="128016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0.2308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337560"/>
            <a:ext cx="2011680" cy="45720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8/182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886200"/>
            <a:ext cx="91440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54480" y="388620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0.9227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17520" y="388620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0.8259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3886200"/>
            <a:ext cx="164592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0.1818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3886200"/>
            <a:ext cx="146304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0.2857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9520" y="3886200"/>
            <a:ext cx="128016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0.2222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3886200"/>
            <a:ext cx="2011680" cy="4572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7/181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434840"/>
            <a:ext cx="9144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AVG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54480" y="4434840"/>
            <a:ext cx="146304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0.9043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0" y="4434840"/>
            <a:ext cx="146304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0.8101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0" y="4434840"/>
            <a:ext cx="164592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0.2085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4434840"/>
            <a:ext cx="146304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0.4071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4434840"/>
            <a:ext cx="128016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0.2705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4434840"/>
            <a:ext cx="20116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37/909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特征重要性排名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ST段偏移 (st_deviation_mv)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15568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4754880" y="1115568"/>
            <a:ext cx="502920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87552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0.196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5331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反映心肌缺血状态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灌注指数 (perfusion_index)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45919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754880" y="1645919"/>
            <a:ext cx="3874536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875520" y="16276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83663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反映末梢血液循环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579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RMSSD (rmssd_ms)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176272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754880" y="2176272"/>
            <a:ext cx="3540967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875520" y="2157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41401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反映副交感神经活性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8833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SDNN (sdnn_ms)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706623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754880" y="2706623"/>
            <a:ext cx="2540259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875520" y="268833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44367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反映自主神经整体变异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186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反射峰延迟 (primary_reflected_peak_delay_ms)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236975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4754880" y="3236975"/>
            <a:ext cx="2334985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875520" y="32186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474719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反映动脉硬化程度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增强指数 (augmentation_index)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767327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4754880" y="3767327"/>
            <a:ext cx="1924438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87552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005071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反映动脉僵硬度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静息心率 (resting_hr_bpm)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4297680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35" name="Rounded Rectangle 34"/>
          <p:cNvSpPr/>
          <p:nvPr/>
        </p:nvSpPr>
        <p:spPr>
          <a:xfrm>
            <a:off x="4754880" y="4297680"/>
            <a:ext cx="1898779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987552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53542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基础心血管指标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09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校正QT间期 (qtc_ms)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4828032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4754880" y="4828032"/>
            <a:ext cx="1616528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9875520" y="4809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6577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反映心室复极时间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400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脉搏传导时间 (pulse_transit_time_ms)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5358384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4754880" y="5358384"/>
            <a:ext cx="1590869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9875520" y="5340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59612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反映血压变化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70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LF/HF比 (lf_hf_ratio)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5888736"/>
            <a:ext cx="5029200" cy="274320"/>
          </a:xfrm>
          <a:prstGeom prst="roundRect">
            <a:avLst/>
          </a:prstGeom>
          <a:solidFill>
            <a:srgbClr val="35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50" name="Rounded Rectangle 49"/>
          <p:cNvSpPr/>
          <p:nvPr/>
        </p:nvSpPr>
        <p:spPr>
          <a:xfrm>
            <a:off x="4754880" y="5888736"/>
            <a:ext cx="1282959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9875520" y="5870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ECC71"/>
                </a:solidFill>
              </a:defRPr>
            </a:pPr>
            <a:r>
              <a:t>0.050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612648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反映自主神经平衡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总结与建议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</a:defRPr>
            </a:pPr>
            <a:r>
              <a:t>核心改进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修复了KFold导致的类别分布不一致问题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通过Pipeline消除了数据泄露风险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class_weight处理了1:23.6的极端不平衡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新增Precision/Recall/F1全面评估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✓  数据量从10例扩展到909例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后续优化方向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→  SMOTE / ADASYN 过采样正样本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→  调整分类阈值(当前0.5→0.3)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→  尝试XGBoost / 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→  增加正样本数据采集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→  贝叶斯超参数优化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669280"/>
            <a:ext cx="6400800" cy="73152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AUC = 0.8101  |  Accuracy = 0.9043  |  样本 = 909例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