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AABB"/>
                </a:solidFill>
                <a:latin typeface="Microsoft YaHei"/>
              </a:defRPr>
            </a:pPr>
            <a:r>
              <a:t>基于自监督学习的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冠心病(CHD)预测模型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PPG+ACC 多模态信号分析  |  自监督预训练  |  前瞻性推理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4234" y="1132524"/>
            <a:ext cx="10698480" cy="59436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3346" y="1234441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896306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4866" y="148066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有标签数据与Prospective数据对比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530" y="1865682"/>
            <a:ext cx="10698480" cy="59436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3346" y="1947673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896306" y="1901953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自监督预训练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2556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掩码建模 + 多模态对比学习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34" y="2601774"/>
            <a:ext cx="10698480" cy="59436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3346" y="2660904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896306" y="2615185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CHD预测流程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6306" y="295972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rPr dirty="0" err="1"/>
              <a:t>端到端pipeline设计与实现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584234" y="3308662"/>
            <a:ext cx="10698480" cy="59436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073346" y="3374137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896306" y="332841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实验结果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6306" y="367927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模型性能评估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8530" y="4121948"/>
            <a:ext cx="10698480" cy="59436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3346" y="4087369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699925" y="411546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前瞻性推理队列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9925" y="4487707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rPr dirty="0"/>
              <a:t>338K样本推理与风险分层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4234" y="4858040"/>
            <a:ext cx="10698480" cy="59436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3346" y="4800600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896306" y="475488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6306" y="517976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rPr dirty="0" err="1"/>
              <a:t>关键发现与后续方向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dirty="0" err="1"/>
              <a:t>数据分析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有标签数据 (Labeled)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数据来源: 原始TXT附件 (ZIP解压)</a:t>
            </a:r>
            <a:br/>
            <a:r>
              <a:t>记录数: 888条</a:t>
            </a:r>
            <a:br/>
            <a:r>
              <a:t>患者数: 189人</a:t>
            </a:r>
            <a:br/>
            <a:r>
              <a:t>CHD阳性: 16人 (8.5%)</a:t>
            </a:r>
            <a:br/>
            <a:r>
              <a:t>CHD阴性: 173人 (91.5%)</a:t>
            </a:r>
            <a:br/>
            <a:br/>
            <a:r>
              <a:t>采样率: 3.3~100 Hz (中位数4.9 Hz)</a:t>
            </a:r>
            <a:br/>
            <a:r>
              <a:t>时长: 1.6s~450s (中位数340s)</a:t>
            </a:r>
            <a:br/>
            <a:r>
              <a:t>数据格式: 原始txt → 10个手工特征</a:t>
            </a:r>
            <a:br/>
            <a:r>
              <a:t>用户标识: user_id (9个), external_id (196个)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Prospective数据 (无标签)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数据来源: 标准化npz文件</a:t>
            </a:r>
            <a:br/>
            <a:r>
              <a:t>记录数: 338,894条</a:t>
            </a:r>
            <a:br/>
            <a:r>
              <a:t>采样率: 100 Hz (标称)</a:t>
            </a:r>
            <a:br/>
            <a:r>
              <a:t>时长: 30秒 (固定窗口)</a:t>
            </a:r>
            <a:br/>
            <a:br/>
            <a:r>
              <a:t>数据格式: npz (4, 3000)</a:t>
            </a:r>
            <a:br/>
            <a:r>
              <a:t>通道: [PPG, ACC_X, ACC_Y, ACC_Z]</a:t>
            </a:r>
            <a:br/>
            <a:r>
              <a:t>滤波: 0.8-8Hz带通(PPG), 5Hz低通(ACC)</a:t>
            </a:r>
            <a:br/>
            <a:r>
              <a:t>用户标识: 无 (仅文件hash)</a:t>
            </a:r>
            <a:br/>
            <a:r>
              <a:t>时间戳: 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02  10个血管信号特征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89920" cy="530352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resting_hr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静息心率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PPG峰值检测计算心率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sdnn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正常心动周期标准差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RR间期标准差，反映HRV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rmssd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相邻间期差均方根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反映副交感神经活性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lf_hf_ratio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低高频功率比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交感-迷走平衡指标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perfusion_index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灌注指数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94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PPG AC/DC比值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augmentation_index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增强指数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794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反射波增强比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systolic_diastolic_time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主重峰时差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800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收缩期与舒张期峰值间隔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st_deviation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ST段偏移量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00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心肌缺血指标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86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qtc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486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校正QT间期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806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Bazett校正法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486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pwtt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486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脉搏波传导时间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806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ACC-PPG互相关延迟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03  自监督预训练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56032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Microsoft YaHei"/>
              </a:defRPr>
            </a:pPr>
            <a:r>
              <a:t>掩码建模 (MAE)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将3000个采样点分为60个patch (每patch 50点)</a:t>
            </a:r>
            <a:br/>
            <a:r>
              <a:t>• 随机遮挡75%的patch</a:t>
            </a:r>
            <a:br/>
            <a:r>
              <a:t>• 编码器: 1D CNN + 4层Transformer</a:t>
            </a:r>
            <a:br/>
            <a:r>
              <a:t>• 解码器: 2层Transformer，重建被遮挡patch</a:t>
            </a:r>
            <a:br/>
            <a:r>
              <a:t>• 损失: MSE重建损失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Microsoft YaHei"/>
              </a:defRPr>
            </a:pPr>
            <a:r>
              <a:t>多模态对比学习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4个通道视为不同"模态"</a:t>
            </a:r>
            <a:br/>
            <a:r>
              <a:t>• 数据增强: 裁剪/缩放/噪声/翻转</a:t>
            </a:r>
            <a:br/>
            <a:r>
              <a:t>• NT-Xent对比损失: 同样本视图相似</a:t>
            </a:r>
            <a:br/>
            <a:r>
              <a:t>• 投影头: 128→64→32维</a:t>
            </a:r>
            <a:br/>
            <a:r>
              <a:t>• 损失: α×重建 + β×对比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模型配置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模型参数: 1,294,696 (1.3M)</a:t>
            </a:r>
            <a:br/>
            <a:r>
              <a:t>CNN通道: [32, 64, 128]</a:t>
            </a:r>
            <a:br/>
            <a:r>
              <a:t>Transformer: 4层, d=128, 4头</a:t>
            </a:r>
            <a:br/>
            <a:r>
              <a:t>Patch大小: 50, 总60个patch</a:t>
            </a:r>
            <a:br/>
            <a:r>
              <a:t>投影维度: 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训练配置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训练样本: 5,000 (从338K采样)</a:t>
            </a:r>
            <a:br/>
            <a:r>
              <a:t>训练轮数: 50 epochs</a:t>
            </a:r>
            <a:br/>
            <a:r>
              <a:t>批大小: 32</a:t>
            </a:r>
            <a:br/>
            <a:r>
              <a:t>优化器: AdamW (lr=1e-4)</a:t>
            </a:r>
            <a:br/>
            <a:r>
              <a:t>设备: CPU (约1小时)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 </a:t>
            </a:r>
            <a:r>
              <a:rPr dirty="0" err="1"/>
              <a:t>预训练结果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743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Microsoft YaHei"/>
              </a:defRPr>
            </a:pPr>
            <a:r>
              <a:t>训练损失曲线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Epoch  1: Loss=3.034 (Recon=0.962, Contrast=4.144)</a:t>
            </a:r>
            <a:br/>
            <a:r>
              <a:t>Epoch 10: Loss=2.969 (Recon=0.898, Contrast=4.143)</a:t>
            </a:r>
            <a:br/>
            <a:r>
              <a:t>Epoch 20: Loss=2.966 (Recon=0.894, Contrast=4.143)</a:t>
            </a:r>
            <a:br/>
            <a:r>
              <a:t>Epoch 30: Loss=2.972 (Recon=0.901, Contrast=4.143)</a:t>
            </a:r>
            <a:br/>
            <a:r>
              <a:t>Epoch 40: Loss=2.731 (Recon=0.899, Contrast=3.665)</a:t>
            </a:r>
            <a:br/>
            <a:r>
              <a:t>Epoch 50: Loss=2.700 (Recon=0.904, Contrast=3.593)</a:t>
            </a:r>
            <a:br/>
            <a:br/>
            <a:r>
              <a:t>重建损失: 0.962 → 0.904 (↓6.0%)</a:t>
            </a:r>
            <a:br/>
            <a:r>
              <a:t>对比损失: 4.144 → 3.593 (↓13.3%)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Microsoft YaHei"/>
              </a:defRPr>
            </a:pPr>
            <a:r>
              <a:t>预训练特征分布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提取33,889个样本的128维特征</a:t>
            </a:r>
            <a:br/>
            <a:br/>
            <a:r>
              <a:t>feat_0: mean=0.016, std=0.122</a:t>
            </a:r>
            <a:br/>
            <a:r>
              <a:t>feat_1: mean=-0.162, std=0.074</a:t>
            </a:r>
            <a:br/>
            <a:r>
              <a:t>feat_2: mean=-0.119, std=0.321</a:t>
            </a:r>
            <a:br/>
            <a:r>
              <a:t>feat_3: mean=0.438, std=0.174</a:t>
            </a:r>
            <a:br/>
            <a:r>
              <a:t>feat_4: mean=-0.194, std=0.068</a:t>
            </a:r>
            <a:br/>
            <a:br/>
            <a:r>
              <a:t>特征范围: [-1.26, 1.49]</a:t>
            </a:r>
            <a:br/>
            <a:r>
              <a:t>特征维度: 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89920" cy="2103120"/>
          </a:xfrm>
          <a:prstGeom prst="round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pretrained_encoder_best.pth — 最佳预训练编码器 (14.9MB, Epoch 47)</a:t>
            </a:r>
            <a:br/>
            <a:r>
              <a:t>• pretrained_encoder_final.pth — 最终模型</a:t>
            </a:r>
            <a:br/>
            <a:r>
              <a:t>• pretrain_config.json — 模型配置</a:t>
            </a:r>
            <a:br/>
            <a:r>
              <a:t>• prospective_pretrained_features.csv — 33,889个样本×128维特征 (52.2MB)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 </a:t>
            </a:r>
            <a:r>
              <a:rPr dirty="0" err="1"/>
              <a:t>CHD预测流程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89920" cy="5303520"/>
          </a:xfrm>
          <a:prstGeom prst="round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端到端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--- 有标签数据路径 ---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286000"/>
            <a:ext cx="1737360" cy="91440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原始TXT</a:t>
            </a:r>
            <a:br/>
            <a:r>
              <a:t>189人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56032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46120" y="2286000"/>
            <a:ext cx="1737360" cy="91440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feature_extractor</a:t>
            </a:r>
            <a:br/>
            <a:r>
              <a:t>10个特征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29200" y="256032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3520" y="2286000"/>
            <a:ext cx="1737360" cy="91440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recording_features</a:t>
            </a:r>
            <a:br/>
            <a:r>
              <a:t>_v2.csv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600" y="256032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60920" y="2286000"/>
            <a:ext cx="1737360" cy="91440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SMOTE+GBM</a:t>
            </a:r>
            <a:br/>
            <a:r>
              <a:t>5折CV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44000" y="256032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18320" y="2286000"/>
            <a:ext cx="1737360" cy="9144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锁定模型</a:t>
            </a:r>
            <a:br/>
            <a:r>
              <a:t>AUC=0.666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--- Prospective数据路径 ---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840480"/>
            <a:ext cx="1737360" cy="914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PPG+ACC波形</a:t>
            </a:r>
            <a:br/>
            <a:r>
              <a:t>338,894条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71800" y="411480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46120" y="3840480"/>
            <a:ext cx="1737360" cy="914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20_extract_</a:t>
            </a:r>
            <a:br/>
            <a:r>
              <a:t>features.py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29200" y="411480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03520" y="3840480"/>
            <a:ext cx="1737360" cy="914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prospective_</a:t>
            </a:r>
            <a:br/>
            <a:r>
              <a:t>recording_features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411480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60920" y="3840480"/>
            <a:ext cx="1737360" cy="9144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锁定模型</a:t>
            </a:r>
            <a:br/>
            <a:r>
              <a:t>predict_proba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44000" y="4114800"/>
            <a:ext cx="228600" cy="2286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18320" y="3840480"/>
            <a:ext cx="1737360" cy="9144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CHD预测</a:t>
            </a:r>
            <a:br/>
            <a:r>
              <a:t>chd_predictions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↓ 锁定模型 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6A"/>
                </a:solidFill>
                <a:latin typeface="Microsoft YaHei"/>
              </a:defRPr>
            </a:pPr>
            <a:r>
              <a:t>关键约束: 两批数据无法在波形级别对齐 (采样率不同, 无共享User ID) → 只能在10个手工特征上进行分类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 </a:t>
            </a:r>
            <a:r>
              <a:rPr dirty="0" err="1"/>
              <a:t>实验结果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0" cy="32004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模型对比 (5折交叉验证)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onsolas"/>
              </a:defRPr>
            </a:pPr>
            <a:r>
              <a:t>模型                  AUC      F1      Recall  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Consolas"/>
              </a:defRPr>
            </a:pPr>
            <a:r>
              <a:t>SMOTE+GBM (锁定)        0.6662  0.2424  0.2500  0.2353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SMOTE+RF              0.6604  0.1364  0.1875  0.1071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7121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LR                    0.6358  0.1957  0.5625  0.1184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638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RF                    0.6214  0.0000  0.0000  0.0000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GBM                   0.5748  0.0000  0.0000  0.0000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SMOTE+LR              0.5589  0.1263  0.3750  0.0759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416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SVM                   0.4559  0.0000  0.0000  0.0000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389120" cy="32004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463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Prospective预测分布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011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onsolas"/>
              </a:defRPr>
            </a:pPr>
            <a:r>
              <a:t>概率区间    样本数    占比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&lt;0.1      308,708   91.1%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606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0.1-0.2   19,771    5.8%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926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0.2-0.3   5,137     1.5%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46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93D"/>
                </a:solidFill>
                <a:latin typeface="Consolas"/>
              </a:defRPr>
            </a:pPr>
            <a:r>
              <a:t>0.3-0.5   2,737     0.8%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566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D6A"/>
                </a:solidFill>
                <a:latin typeface="Consolas"/>
              </a:defRPr>
            </a:pPr>
            <a:r>
              <a:t>0.5-0.7   1,355     0.4%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886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D6A"/>
                </a:solidFill>
                <a:latin typeface="Consolas"/>
              </a:defRPr>
            </a:pPr>
            <a:r>
              <a:t>&gt;0.7      1,186     0.3%   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10789920" cy="1828800"/>
          </a:xfrm>
          <a:prstGeom prst="round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• 锁定模型: SMOTE+GBM, CV AUC=0.666, F1=0.242</a:t>
            </a:r>
            <a:br/>
            <a:r>
              <a:t>• Prospective数据中, 约2,541条 (0.7%) 被预测为CHD高风险 (概率&gt;0.5)</a:t>
            </a:r>
            <a:br/>
            <a:r>
              <a:t>• 约5,278条 (1.6%) 被预测为中风险 (概率0.3-0.5)</a:t>
            </a:r>
            <a:br/>
            <a:r>
              <a:t>• 类别严重不平衡 (16/189=8.5%) 是性能瓶颈的主要原因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 </a:t>
            </a:r>
            <a:r>
              <a:rPr dirty="0" err="1"/>
              <a:t>前瞻性推理队列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743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推理队列生成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输入: 338,894条Prospective 10个特征</a:t>
            </a:r>
            <a:br/>
            <a:r>
              <a:t>模型: 锁定SMOTE+GBM</a:t>
            </a:r>
            <a:br/>
            <a:r>
              <a:t>输出: prospective_inference_queue.csv</a:t>
            </a:r>
            <a:br/>
            <a:br/>
            <a:r>
              <a:t>字段:</a:t>
            </a:r>
            <a:br/>
            <a:r>
              <a:t>  sample_id — 样本hash标识</a:t>
            </a:r>
            <a:br/>
            <a:r>
              <a:t>  10个特征值</a:t>
            </a:r>
            <a:br/>
            <a:r>
              <a:t>  chd_probability — CHD概率 (0~1)</a:t>
            </a:r>
            <a:br/>
            <a:r>
              <a:t>  chd_prediction — 预测标签 (0/1)</a:t>
            </a:r>
            <a:br/>
            <a:r>
              <a:t>  risk_level — 风险分层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风险分层统计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onsolas"/>
              </a:defRPr>
            </a:pPr>
            <a:r>
              <a:t>风险等级    概率区间    样本数    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very_low  &lt;0.1      308,708   91.09%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low       0.1-0.3   24,908    7.35%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93D"/>
                </a:solidFill>
                <a:latin typeface="Consolas"/>
              </a:defRPr>
            </a:pPr>
            <a:r>
              <a:t>medium    0.3-0.5   4,092     1.21%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D6A"/>
                </a:solidFill>
                <a:latin typeface="Consolas"/>
              </a:defRPr>
            </a:pPr>
            <a:r>
              <a:t>high      &gt;0.5      1,186     0.35% 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789920" cy="2286000"/>
          </a:xfrm>
          <a:prstGeom prst="round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概率分布详情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&lt;0.05     274,112   80.88%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0.05-0.1  34,596    10.21%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77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nsolas"/>
              </a:defRPr>
            </a:pPr>
            <a:r>
              <a:t>0.1-0.2   19,771    5.83%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97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nsolas"/>
              </a:defRPr>
            </a:pPr>
            <a:r>
              <a:t>0.2-0.3   5,137     1.52%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37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Consolas"/>
              </a:defRPr>
            </a:pPr>
            <a:r>
              <a:t>0.3-0.5   2,737     0.81%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onsolas"/>
              </a:defRPr>
            </a:pPr>
            <a:r>
              <a:t>0.5-0.7   1,355     0.40%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577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D6A"/>
                </a:solidFill>
                <a:latin typeface="Consolas"/>
              </a:defRPr>
            </a:pPr>
            <a:r>
              <a:t>&gt;0.7      1,186     0.35%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  </a:t>
            </a:r>
            <a:r>
              <a:rPr dirty="0" err="1"/>
              <a:t>总结与展望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完成的工作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自监督预训练</a:t>
            </a:r>
            <a:br/>
            <a:r>
              <a:t>   • 掩码建模 + 对比学习</a:t>
            </a:r>
            <a:br/>
            <a:r>
              <a:t>   • 1.3M参数模型, 50 epochs训练</a:t>
            </a:r>
            <a:br/>
            <a:r>
              <a:t>   • 输出128维预训练特征</a:t>
            </a:r>
            <a:br/>
            <a:br/>
            <a:r>
              <a:t>2. CHD预测Pipeline</a:t>
            </a:r>
            <a:br/>
            <a:r>
              <a:t>   • 端到端: TXT→10特征→模型→预测</a:t>
            </a:r>
            <a:br/>
            <a:r>
              <a:t>   • 7个候选模型对比, 锁定最优</a:t>
            </a:r>
            <a:br/>
            <a:r>
              <a:t>   • 对338K Prospective数据完成预测</a:t>
            </a:r>
            <a:br/>
            <a:br/>
            <a:r>
              <a:t>3. 前瞻性推理队列</a:t>
            </a:r>
            <a:br/>
            <a:r>
              <a:t>   • 338,894条样本推理结果</a:t>
            </a:r>
            <a:br/>
            <a:r>
              <a:t>   • 风险分层: very_low/low/medium/high</a:t>
            </a:r>
            <a:br/>
            <a:r>
              <a:t>   • 输出prospective_inference_queue.csv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后续方向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获取真实CHD结局</a:t>
            </a:r>
            <a:br/>
            <a:r>
              <a:t>   • 对Prospective队列进行随访</a:t>
            </a:r>
            <a:br/>
            <a:r>
              <a:t>   • 获取真实诊断结果</a:t>
            </a:r>
            <a:br/>
            <a:br/>
            <a:r>
              <a:t>2. 模型评估</a:t>
            </a:r>
            <a:br/>
            <a:r>
              <a:t>   • prediction vs truth</a:t>
            </a:r>
            <a:br/>
            <a:r>
              <a:t>   • AUROC / AUPRC</a:t>
            </a:r>
            <a:br/>
            <a:r>
              <a:t>   • Sensitivity / Specificity</a:t>
            </a:r>
            <a:br/>
            <a:r>
              <a:t>   • Calibration (校准曲线)</a:t>
            </a:r>
            <a:br/>
            <a:br/>
            <a:r>
              <a:t>3. 扩大有标签数据集</a:t>
            </a:r>
            <a:br/>
            <a:r>
              <a:t>   • 增加CHD阳性样本 (当前仅16人)</a:t>
            </a:r>
            <a:br/>
            <a:r>
              <a:t>   • 改善类别不平衡问题</a:t>
            </a:r>
            <a:br/>
            <a:br/>
            <a:r>
              <a:t>4. 波形级别微调</a:t>
            </a:r>
            <a:br/>
            <a:r>
              <a:t>   • 建立attachmentToken→npz映射</a:t>
            </a:r>
            <a:br/>
            <a:r>
              <a:t>   • 用原始PPG波形微调编码器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1271</Words>
  <Application>Microsoft Office PowerPoint</Application>
  <PresentationFormat>宽屏</PresentationFormat>
  <Paragraphs>133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瑞锋 赵</cp:lastModifiedBy>
  <cp:revision>2</cp:revision>
  <dcterms:created xsi:type="dcterms:W3CDTF">2013-01-27T09:14:16Z</dcterms:created>
  <dcterms:modified xsi:type="dcterms:W3CDTF">2026-08-31T04:27:28Z</dcterms:modified>
  <cp:category/>
</cp:coreProperties>
</file>