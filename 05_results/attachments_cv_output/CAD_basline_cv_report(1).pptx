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4" d="100"/>
          <a:sy n="104" d="100"/>
        </p:scale>
        <p:origin x="100" y="4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914400"/>
            <a:ext cx="10515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003366"/>
                </a:solidFill>
              </a:defRPr>
            </a:pPr>
            <a:r>
              <a:t>CAD风险预测模型 — 基线评估报告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56032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>
                <a:solidFill>
                  <a:srgbClr val="646464"/>
                </a:solidFill>
              </a:defRPr>
            </a:pPr>
            <a:r>
              <a:t>仅使用Attachments数据的五折交叉验证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65760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>
                <a:solidFill>
                  <a:srgbClr val="646464"/>
                </a:solidFill>
              </a:defRPr>
            </a:pPr>
            <a:r>
              <a:t>XGBoost + PPG信号特征 | 10个生理指标 | Stratified 5-Fold CV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029200"/>
            <a:ext cx="105156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>
                <a:solidFill>
                  <a:srgbClr val="646464"/>
                </a:solidFill>
              </a:defRPr>
            </a:pPr>
            <a:r>
              <a:rPr dirty="0"/>
              <a:t>2026-09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03366"/>
                </a:solidFill>
              </a:defRPr>
            </a:pPr>
            <a:r>
              <a:t>一、研究概述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282828"/>
                </a:solidFill>
              </a:defRPr>
            </a:pPr>
            <a:r>
              <a:t>数据来源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651760" y="1188720"/>
            <a:ext cx="8686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282828"/>
                </a:solidFill>
              </a:defRPr>
            </a:pPr>
            <a:r>
              <a:t>909 个有效zip文件（1000个total）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874519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282828"/>
                </a:solidFill>
              </a:defRPr>
            </a:pPr>
            <a:r>
              <a:t>标签映射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651760" y="1874519"/>
            <a:ext cx="8686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282828"/>
                </a:solidFill>
              </a:defRPr>
            </a:pPr>
            <a:r>
              <a:t>通过标签对应表.txt 将zip时间戳映射到外部ID，基于诊断关键词标注CAD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56032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282828"/>
                </a:solidFill>
              </a:defRPr>
            </a:pPr>
            <a:r>
              <a:t>特征提取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651760" y="2560320"/>
            <a:ext cx="8686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282828"/>
                </a:solidFill>
              </a:defRPr>
            </a:pPr>
            <a:r>
              <a:t>从PPG信号中提取7个生理特征，3个ECG特征为NaN（无ECG数据）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24612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282828"/>
                </a:solidFill>
              </a:defRPr>
            </a:pPr>
            <a:r>
              <a:t>模型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51760" y="3246120"/>
            <a:ext cx="8686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282828"/>
                </a:solidFill>
              </a:defRPr>
            </a:pPr>
            <a:r>
              <a:t>XGBoost (max_depth=4, n_estimators=300, lr=0.04)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393192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282828"/>
                </a:solidFill>
              </a:defRPr>
            </a:pPr>
            <a:r>
              <a:t>评估方法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51760" y="3931920"/>
            <a:ext cx="8686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282828"/>
                </a:solidFill>
              </a:defRPr>
            </a:pPr>
            <a:r>
              <a:t>分层五折交叉验证 (Stratified 5-Fold CV)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03366"/>
                </a:solidFill>
              </a:defRPr>
            </a:pPr>
            <a:r>
              <a:t>二、五折交叉验证结果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188720"/>
            <a:ext cx="2011680" cy="1097280"/>
          </a:xfrm>
          <a:prstGeom prst="round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2200" b="1">
                <a:solidFill>
                  <a:srgbClr val="003366"/>
                </a:solidFill>
              </a:defRPr>
            </a:pPr>
            <a:r>
              <a:t>0.8043</a:t>
            </a:r>
          </a:p>
          <a:p>
            <a:pPr algn="ctr">
              <a:defRPr sz="1100">
                <a:solidFill>
                  <a:srgbClr val="646464"/>
                </a:solidFill>
              </a:defRPr>
            </a:pPr>
            <a:r>
              <a:t>Mean AUC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743200" y="1188720"/>
            <a:ext cx="2011680" cy="1097280"/>
          </a:xfrm>
          <a:prstGeom prst="round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2200" b="1">
                <a:solidFill>
                  <a:srgbClr val="646464"/>
                </a:solidFill>
              </a:defRPr>
            </a:pPr>
            <a:r>
              <a:t>±0.0392</a:t>
            </a:r>
          </a:p>
          <a:p>
            <a:pPr algn="ctr">
              <a:defRPr sz="1100">
                <a:solidFill>
                  <a:srgbClr val="646464"/>
                </a:solidFill>
              </a:defRPr>
            </a:pPr>
            <a:r>
              <a:t>Std AUC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0" y="1188720"/>
            <a:ext cx="2011680" cy="1097280"/>
          </a:xfrm>
          <a:prstGeom prst="round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2200" b="1">
                <a:solidFill>
                  <a:srgbClr val="282828"/>
                </a:solidFill>
              </a:defRPr>
            </a:pPr>
            <a:r>
              <a:t>909</a:t>
            </a:r>
          </a:p>
          <a:p>
            <a:pPr algn="ctr">
              <a:defRPr sz="1100">
                <a:solidFill>
                  <a:srgbClr val="646464"/>
                </a:solidFill>
              </a:defRPr>
            </a:pPr>
            <a:r>
              <a:t>样本量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0" y="1188720"/>
            <a:ext cx="2011680" cy="1097280"/>
          </a:xfrm>
          <a:prstGeom prst="round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2200" b="1">
                <a:solidFill>
                  <a:srgbClr val="B40000"/>
                </a:solidFill>
              </a:defRPr>
            </a:pPr>
            <a:r>
              <a:t>37 (4.1%)</a:t>
            </a:r>
          </a:p>
          <a:p>
            <a:pPr algn="ctr">
              <a:defRPr sz="1100">
                <a:solidFill>
                  <a:srgbClr val="646464"/>
                </a:solidFill>
              </a:defRPr>
            </a:pPr>
            <a:r>
              <a:t>CAD+阳性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601200" y="1188720"/>
            <a:ext cx="2011680" cy="1097280"/>
          </a:xfrm>
          <a:prstGeom prst="round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2200" b="1">
                <a:solidFill>
                  <a:srgbClr val="007800"/>
                </a:solidFill>
              </a:defRPr>
            </a:pPr>
            <a:r>
              <a:t>872 (95.9%)</a:t>
            </a:r>
          </a:p>
          <a:p>
            <a:pPr algn="ctr">
              <a:defRPr sz="1100">
                <a:solidFill>
                  <a:srgbClr val="646464"/>
                </a:solidFill>
              </a:defRPr>
            </a:pPr>
            <a:r>
              <a:t>CAD-阴性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78162540"/>
              </p:ext>
            </p:extLst>
          </p:nvPr>
        </p:nvGraphicFramePr>
        <p:xfrm>
          <a:off x="862694" y="2737063"/>
          <a:ext cx="5231718" cy="337530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4390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4390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4390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82185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Fold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AUC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样本数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2185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Fold 1</a:t>
                      </a:r>
                    </a:p>
                  </a:txBody>
                  <a:tcPr>
                    <a:solidFill>
                      <a:srgbClr val="F0F5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0.7935</a:t>
                      </a:r>
                    </a:p>
                  </a:txBody>
                  <a:tcPr>
                    <a:solidFill>
                      <a:srgbClr val="F0F5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182</a:t>
                      </a:r>
                    </a:p>
                  </a:txBody>
                  <a:tcPr>
                    <a:solidFill>
                      <a:srgbClr val="F0F5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82185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rPr dirty="0"/>
                        <a:t>Fold 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0.8571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182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82185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Fold 3</a:t>
                      </a:r>
                    </a:p>
                  </a:txBody>
                  <a:tcPr>
                    <a:solidFill>
                      <a:srgbClr val="F0F5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0.8355</a:t>
                      </a:r>
                    </a:p>
                  </a:txBody>
                  <a:tcPr>
                    <a:solidFill>
                      <a:srgbClr val="F0F5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182</a:t>
                      </a:r>
                    </a:p>
                  </a:txBody>
                  <a:tcPr>
                    <a:solidFill>
                      <a:srgbClr val="F0F5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82185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Fold 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0.7917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182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82185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Fold 5</a:t>
                      </a:r>
                    </a:p>
                  </a:txBody>
                  <a:tcPr>
                    <a:solidFill>
                      <a:srgbClr val="F0F5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0.7438</a:t>
                      </a:r>
                    </a:p>
                  </a:txBody>
                  <a:tcPr>
                    <a:solidFill>
                      <a:srgbClr val="F0F5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181</a:t>
                      </a:r>
                    </a:p>
                  </a:txBody>
                  <a:tcPr>
                    <a:solidFill>
                      <a:srgbClr val="F0F5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82191">
                <a:tc>
                  <a:txBody>
                    <a:bodyPr/>
                    <a:lstStyle/>
                    <a:p>
                      <a:pPr>
                        <a:defRPr sz="1000" b="1"/>
                      </a:pPr>
                      <a:r>
                        <a:t>Mean</a:t>
                      </a:r>
                    </a:p>
                  </a:txBody>
                  <a:tcPr>
                    <a:solidFill>
                      <a:srgbClr val="E6F0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/>
                      </a:pPr>
                      <a:r>
                        <a:t>0.8043</a:t>
                      </a:r>
                    </a:p>
                  </a:txBody>
                  <a:tcPr>
                    <a:solidFill>
                      <a:srgbClr val="E6F0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/>
                      </a:pPr>
                      <a:r>
                        <a:rPr dirty="0"/>
                        <a:t>909</a:t>
                      </a:r>
                    </a:p>
                  </a:txBody>
                  <a:tcPr>
                    <a:solidFill>
                      <a:srgbClr val="E6F0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6858000" y="274320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282828"/>
                </a:solidFill>
              </a:defRPr>
            </a:pPr>
            <a:r>
              <a:t>AUC分布</a:t>
            </a:r>
          </a:p>
        </p:txBody>
      </p:sp>
      <p:sp>
        <p:nvSpPr>
          <p:cNvPr id="10" name="Rectangle 9"/>
          <p:cNvSpPr/>
          <p:nvPr/>
        </p:nvSpPr>
        <p:spPr>
          <a:xfrm>
            <a:off x="6858000" y="3383280"/>
            <a:ext cx="2415135" cy="320040"/>
          </a:xfrm>
          <a:prstGeom prst="rect">
            <a:avLst/>
          </a:prstGeom>
          <a:solidFill>
            <a:srgbClr val="B4C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364575" y="338328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282828"/>
                </a:solidFill>
              </a:defRPr>
            </a:pPr>
            <a:r>
              <a:t>0.7935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0" y="338328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>
                <a:solidFill>
                  <a:srgbClr val="646464"/>
                </a:solidFill>
              </a:defRPr>
            </a:pPr>
            <a:r>
              <a:t>F1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858000" y="3840480"/>
            <a:ext cx="2939142" cy="32004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9888582" y="384048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282828"/>
                </a:solidFill>
              </a:defRPr>
            </a:pPr>
            <a:r>
              <a:t>0.8571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0" y="384048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>
                <a:solidFill>
                  <a:srgbClr val="646464"/>
                </a:solidFill>
              </a:defRPr>
            </a:pPr>
            <a:r>
              <a:t>F2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858000" y="4297680"/>
            <a:ext cx="2760936" cy="32004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9710376" y="429768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282828"/>
                </a:solidFill>
              </a:defRPr>
            </a:pPr>
            <a:r>
              <a:t>0.8355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43600" y="429768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>
                <a:solidFill>
                  <a:srgbClr val="646464"/>
                </a:solidFill>
              </a:defRPr>
            </a:pPr>
            <a:r>
              <a:t>F3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858000" y="4754880"/>
            <a:ext cx="2400299" cy="320040"/>
          </a:xfrm>
          <a:prstGeom prst="rect">
            <a:avLst/>
          </a:prstGeom>
          <a:solidFill>
            <a:srgbClr val="B4C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349740" y="475488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282828"/>
                </a:solidFill>
              </a:defRPr>
            </a:pPr>
            <a:r>
              <a:t>0.7917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0" y="475488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>
                <a:solidFill>
                  <a:srgbClr val="646464"/>
                </a:solidFill>
              </a:defRPr>
            </a:pPr>
            <a:r>
              <a:t>F4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858000" y="5212080"/>
            <a:ext cx="2006725" cy="320040"/>
          </a:xfrm>
          <a:prstGeom prst="rect">
            <a:avLst/>
          </a:prstGeom>
          <a:solidFill>
            <a:srgbClr val="B4C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956165" y="521208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282828"/>
                </a:solidFill>
              </a:defRPr>
            </a:pPr>
            <a:r>
              <a:t>0.7438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943600" y="521208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>
                <a:solidFill>
                  <a:srgbClr val="646464"/>
                </a:solidFill>
              </a:defRPr>
            </a:pPr>
            <a:r>
              <a:t>F5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03366"/>
                </a:solidFill>
              </a:defRPr>
            </a:pPr>
            <a:r>
              <a:t>三、特征统计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274320" y="1097280"/>
          <a:ext cx="11612880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5898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5898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5898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5898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65898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658982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658988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62865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特征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名称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均值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中位数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标准差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最小值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最大值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28650">
                <a:tc>
                  <a:txBody>
                    <a:bodyPr/>
                    <a:lstStyle/>
                    <a:p>
                      <a:pPr>
                        <a:defRPr sz="900" b="1"/>
                      </a:pPr>
                      <a:r>
                        <a:t>resting_hr_bpm</a:t>
                      </a:r>
                    </a:p>
                  </a:txBody>
                  <a:tcPr>
                    <a:solidFill>
                      <a:srgbClr val="F0F5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静息心率(bpm)</a:t>
                      </a:r>
                    </a:p>
                  </a:txBody>
                  <a:tcPr>
                    <a:solidFill>
                      <a:srgbClr val="F0F5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69.96</a:t>
                      </a:r>
                    </a:p>
                  </a:txBody>
                  <a:tcPr>
                    <a:solidFill>
                      <a:srgbClr val="F0F5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68.10</a:t>
                      </a:r>
                    </a:p>
                  </a:txBody>
                  <a:tcPr>
                    <a:solidFill>
                      <a:srgbClr val="F0F5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10.35</a:t>
                      </a:r>
                    </a:p>
                  </a:txBody>
                  <a:tcPr>
                    <a:solidFill>
                      <a:srgbClr val="F0F5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37.56</a:t>
                      </a:r>
                    </a:p>
                  </a:txBody>
                  <a:tcPr>
                    <a:solidFill>
                      <a:srgbClr val="F0F5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125.21</a:t>
                      </a:r>
                    </a:p>
                  </a:txBody>
                  <a:tcPr>
                    <a:solidFill>
                      <a:srgbClr val="F0F5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28650">
                <a:tc>
                  <a:txBody>
                    <a:bodyPr/>
                    <a:lstStyle/>
                    <a:p>
                      <a:pPr>
                        <a:defRPr sz="900" b="1"/>
                      </a:pPr>
                      <a:r>
                        <a:t>sdnn_ms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SDNN(ms)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367.40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398.13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80.33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18.86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546.97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28650">
                <a:tc>
                  <a:txBody>
                    <a:bodyPr/>
                    <a:lstStyle/>
                    <a:p>
                      <a:pPr>
                        <a:defRPr sz="900" b="1"/>
                      </a:pPr>
                      <a:r>
                        <a:t>rmssd_ms</a:t>
                      </a:r>
                    </a:p>
                  </a:txBody>
                  <a:tcPr>
                    <a:solidFill>
                      <a:srgbClr val="F0F5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RMSSD(ms)</a:t>
                      </a:r>
                    </a:p>
                  </a:txBody>
                  <a:tcPr>
                    <a:solidFill>
                      <a:srgbClr val="F0F5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443.40</a:t>
                      </a:r>
                    </a:p>
                  </a:txBody>
                  <a:tcPr>
                    <a:solidFill>
                      <a:srgbClr val="F0F5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478.96</a:t>
                      </a:r>
                    </a:p>
                  </a:txBody>
                  <a:tcPr>
                    <a:solidFill>
                      <a:srgbClr val="F0F5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102.56</a:t>
                      </a:r>
                    </a:p>
                  </a:txBody>
                  <a:tcPr>
                    <a:solidFill>
                      <a:srgbClr val="F0F5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25.53</a:t>
                      </a:r>
                    </a:p>
                  </a:txBody>
                  <a:tcPr>
                    <a:solidFill>
                      <a:srgbClr val="F0F5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888.12</a:t>
                      </a:r>
                    </a:p>
                  </a:txBody>
                  <a:tcPr>
                    <a:solidFill>
                      <a:srgbClr val="F0F5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28650">
                <a:tc>
                  <a:txBody>
                    <a:bodyPr/>
                    <a:lstStyle/>
                    <a:p>
                      <a:pPr>
                        <a:defRPr sz="900" b="1"/>
                      </a:pPr>
                      <a:r>
                        <a:t>lf_hf_ratio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LF/HF比值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0.48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0.46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0.19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0.00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1.71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28650">
                <a:tc>
                  <a:txBody>
                    <a:bodyPr/>
                    <a:lstStyle/>
                    <a:p>
                      <a:pPr>
                        <a:defRPr sz="900" b="1"/>
                      </a:pPr>
                      <a:r>
                        <a:t>perfusion_index</a:t>
                      </a:r>
                    </a:p>
                  </a:txBody>
                  <a:tcPr>
                    <a:solidFill>
                      <a:srgbClr val="F0F5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灏注指数</a:t>
                      </a:r>
                    </a:p>
                  </a:txBody>
                  <a:tcPr>
                    <a:solidFill>
                      <a:srgbClr val="F0F5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2075732</a:t>
                      </a:r>
                    </a:p>
                  </a:txBody>
                  <a:tcPr>
                    <a:solidFill>
                      <a:srgbClr val="F0F5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134483</a:t>
                      </a:r>
                    </a:p>
                  </a:txBody>
                  <a:tcPr>
                    <a:solidFill>
                      <a:srgbClr val="F0F5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1209922</a:t>
                      </a:r>
                    </a:p>
                  </a:txBody>
                  <a:tcPr>
                    <a:solidFill>
                      <a:srgbClr val="F0F5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3229</a:t>
                      </a:r>
                    </a:p>
                  </a:txBody>
                  <a:tcPr>
                    <a:solidFill>
                      <a:srgbClr val="F0F5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29849740</a:t>
                      </a:r>
                    </a:p>
                  </a:txBody>
                  <a:tcPr>
                    <a:solidFill>
                      <a:srgbClr val="F0F5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28650">
                <a:tc>
                  <a:txBody>
                    <a:bodyPr/>
                    <a:lstStyle/>
                    <a:p>
                      <a:pPr>
                        <a:defRPr sz="900" b="1"/>
                      </a:pPr>
                      <a:r>
                        <a:t>augmentation_index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增强指数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-39.59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-40.19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9.66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-94.23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-9.05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628650">
                <a:tc>
                  <a:txBody>
                    <a:bodyPr/>
                    <a:lstStyle/>
                    <a:p>
                      <a:pPr>
                        <a:defRPr sz="900" b="1"/>
                      </a:pPr>
                      <a:r>
                        <a:t>primary_reflected_peak_delay_ms</a:t>
                      </a:r>
                    </a:p>
                  </a:txBody>
                  <a:tcPr>
                    <a:solidFill>
                      <a:srgbClr val="F0F5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反射峰延迟(ms)</a:t>
                      </a:r>
                    </a:p>
                  </a:txBody>
                  <a:tcPr>
                    <a:solidFill>
                      <a:srgbClr val="F0F5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550.67</a:t>
                      </a:r>
                    </a:p>
                  </a:txBody>
                  <a:tcPr>
                    <a:solidFill>
                      <a:srgbClr val="F0F5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482.40</a:t>
                      </a:r>
                    </a:p>
                  </a:txBody>
                  <a:tcPr>
                    <a:solidFill>
                      <a:srgbClr val="F0F5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407.22</a:t>
                      </a:r>
                    </a:p>
                  </a:txBody>
                  <a:tcPr>
                    <a:solidFill>
                      <a:srgbClr val="F0F5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162.26</a:t>
                      </a:r>
                    </a:p>
                  </a:txBody>
                  <a:tcPr>
                    <a:solidFill>
                      <a:srgbClr val="F0F5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10210.80</a:t>
                      </a:r>
                    </a:p>
                  </a:txBody>
                  <a:tcPr>
                    <a:solidFill>
                      <a:srgbClr val="F0F5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03366"/>
                </a:solidFill>
              </a:defRPr>
            </a:pPr>
            <a:r>
              <a:t>四、CAD阳性 vs 阴性 特征对比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097280"/>
          <a:ext cx="10972800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2865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特征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CAD+(n=37)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CAD-(n=872)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差异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28650">
                <a:tc>
                  <a:txBody>
                    <a:bodyPr/>
                    <a:lstStyle/>
                    <a:p>
                      <a:pPr>
                        <a:defRPr sz="1000" b="1"/>
                      </a:pPr>
                      <a:r>
                        <a:t>静息心率</a:t>
                      </a:r>
                    </a:p>
                  </a:txBody>
                  <a:tcPr>
                    <a:solidFill>
                      <a:srgbClr val="F0F5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66.58</a:t>
                      </a:r>
                    </a:p>
                  </a:txBody>
                  <a:tcPr>
                    <a:solidFill>
                      <a:srgbClr val="F0F5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70.11</a:t>
                      </a:r>
                    </a:p>
                  </a:txBody>
                  <a:tcPr>
                    <a:solidFill>
                      <a:srgbClr val="F0F5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-3.53</a:t>
                      </a:r>
                    </a:p>
                  </a:txBody>
                  <a:tcPr>
                    <a:solidFill>
                      <a:srgbClr val="F0F5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28650">
                <a:tc>
                  <a:txBody>
                    <a:bodyPr/>
                    <a:lstStyle/>
                    <a:p>
                      <a:pPr>
                        <a:defRPr sz="1000" b="1"/>
                      </a:pPr>
                      <a:r>
                        <a:t>SDNN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392.29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366.34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+25.95</a:t>
                      </a:r>
                    </a:p>
                  </a:txBody>
                  <a:tcPr>
                    <a:solidFill>
                      <a:srgbClr val="FFEB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28650">
                <a:tc>
                  <a:txBody>
                    <a:bodyPr/>
                    <a:lstStyle/>
                    <a:p>
                      <a:pPr>
                        <a:defRPr sz="1000" b="1"/>
                      </a:pPr>
                      <a:r>
                        <a:t>RMSSD</a:t>
                      </a:r>
                    </a:p>
                  </a:txBody>
                  <a:tcPr>
                    <a:solidFill>
                      <a:srgbClr val="F0F5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484.12</a:t>
                      </a:r>
                    </a:p>
                  </a:txBody>
                  <a:tcPr>
                    <a:solidFill>
                      <a:srgbClr val="F0F5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441.67</a:t>
                      </a:r>
                    </a:p>
                  </a:txBody>
                  <a:tcPr>
                    <a:solidFill>
                      <a:srgbClr val="F0F5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+42.45</a:t>
                      </a:r>
                    </a:p>
                  </a:txBody>
                  <a:tcPr>
                    <a:solidFill>
                      <a:srgbClr val="FFEB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28650">
                <a:tc>
                  <a:txBody>
                    <a:bodyPr/>
                    <a:lstStyle/>
                    <a:p>
                      <a:pPr>
                        <a:defRPr sz="1000" b="1"/>
                      </a:pPr>
                      <a:r>
                        <a:t>LF/HF比值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0.47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0.48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-0.01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28650">
                <a:tc>
                  <a:txBody>
                    <a:bodyPr/>
                    <a:lstStyle/>
                    <a:p>
                      <a:pPr>
                        <a:defRPr sz="1000" b="1"/>
                      </a:pPr>
                      <a:r>
                        <a:t>灏注指数</a:t>
                      </a:r>
                    </a:p>
                  </a:txBody>
                  <a:tcPr>
                    <a:solidFill>
                      <a:srgbClr val="F0F5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251.6M</a:t>
                      </a:r>
                    </a:p>
                  </a:txBody>
                  <a:tcPr>
                    <a:solidFill>
                      <a:srgbClr val="F0F5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205.7M</a:t>
                      </a:r>
                    </a:p>
                  </a:txBody>
                  <a:tcPr>
                    <a:solidFill>
                      <a:srgbClr val="F0F5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+45.9M</a:t>
                      </a:r>
                    </a:p>
                  </a:txBody>
                  <a:tcPr>
                    <a:solidFill>
                      <a:srgbClr val="FFEB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28650">
                <a:tc>
                  <a:txBody>
                    <a:bodyPr/>
                    <a:lstStyle/>
                    <a:p>
                      <a:pPr>
                        <a:defRPr sz="1000" b="1"/>
                      </a:pPr>
                      <a:r>
                        <a:t>增强指数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-40.56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-39.55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-1.01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628650">
                <a:tc>
                  <a:txBody>
                    <a:bodyPr/>
                    <a:lstStyle/>
                    <a:p>
                      <a:pPr>
                        <a:defRPr sz="1000" b="1"/>
                      </a:pPr>
                      <a:r>
                        <a:t>反射峰延迟</a:t>
                      </a:r>
                    </a:p>
                  </a:txBody>
                  <a:tcPr>
                    <a:solidFill>
                      <a:srgbClr val="F0F5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572.71</a:t>
                      </a:r>
                    </a:p>
                  </a:txBody>
                  <a:tcPr>
                    <a:solidFill>
                      <a:srgbClr val="F0F5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549.72</a:t>
                      </a:r>
                    </a:p>
                  </a:txBody>
                  <a:tcPr>
                    <a:solidFill>
                      <a:srgbClr val="F0F5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+22.99</a:t>
                      </a:r>
                    </a:p>
                  </a:txBody>
                  <a:tcPr>
                    <a:solidFill>
                      <a:srgbClr val="FFEB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57200" y="60350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646464"/>
                </a:solidFill>
              </a:defRPr>
            </a:pPr>
            <a:r>
              <a:t>注: CAD+组HRV指标(SDNN, RMSSD)略高，静息心率略低；样本量极不平衡(37 vs 872)，对比仅供参考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03366"/>
                </a:solidFill>
              </a:defRPr>
            </a:pPr>
            <a:r>
              <a:t>五、输入特征说明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274320" y="1097280"/>
          <a:ext cx="11612880" cy="5303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032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032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032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9032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82138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特征名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中文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说明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类别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2138">
                <a:tc>
                  <a:txBody>
                    <a:bodyPr/>
                    <a:lstStyle/>
                    <a:p>
                      <a:pPr>
                        <a:defRPr sz="900" b="1"/>
                      </a:pPr>
                      <a:r>
                        <a:t>resting_hr_bpm</a:t>
                      </a:r>
                    </a:p>
                  </a:txBody>
                  <a:tcPr>
                    <a:solidFill>
                      <a:srgbClr val="F0F5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静息心率</a:t>
                      </a:r>
                    </a:p>
                  </a:txBody>
                  <a:tcPr>
                    <a:solidFill>
                      <a:srgbClr val="F0F5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PPG脉搏间隔中位数</a:t>
                      </a:r>
                    </a:p>
                  </a:txBody>
                  <a:tcPr>
                    <a:solidFill>
                      <a:srgbClr val="F0F5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基础生理</a:t>
                      </a:r>
                    </a:p>
                  </a:txBody>
                  <a:tcPr>
                    <a:solidFill>
                      <a:srgbClr val="F0F5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82138">
                <a:tc>
                  <a:txBody>
                    <a:bodyPr/>
                    <a:lstStyle/>
                    <a:p>
                      <a:pPr>
                        <a:defRPr sz="900" b="1"/>
                      </a:pPr>
                      <a:r>
                        <a:t>sdnn_ms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SDNN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RR间期标准差，自主神经整体调节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HRV时域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82138">
                <a:tc>
                  <a:txBody>
                    <a:bodyPr/>
                    <a:lstStyle/>
                    <a:p>
                      <a:pPr>
                        <a:defRPr sz="900" b="1"/>
                      </a:pPr>
                      <a:r>
                        <a:t>rmssd_ms</a:t>
                      </a:r>
                    </a:p>
                  </a:txBody>
                  <a:tcPr>
                    <a:solidFill>
                      <a:srgbClr val="F0F5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RMSSD</a:t>
                      </a:r>
                    </a:p>
                  </a:txBody>
                  <a:tcPr>
                    <a:solidFill>
                      <a:srgbClr val="F0F5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相邻RR间期差值均方根，副交感神经活性</a:t>
                      </a:r>
                    </a:p>
                  </a:txBody>
                  <a:tcPr>
                    <a:solidFill>
                      <a:srgbClr val="F0F5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HRV时域</a:t>
                      </a:r>
                    </a:p>
                  </a:txBody>
                  <a:tcPr>
                    <a:solidFill>
                      <a:srgbClr val="F0F5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82138">
                <a:tc>
                  <a:txBody>
                    <a:bodyPr/>
                    <a:lstStyle/>
                    <a:p>
                      <a:pPr>
                        <a:defRPr sz="900" b="1"/>
                      </a:pPr>
                      <a:r>
                        <a:t>lf_hf_ratio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LF/HF比值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低频/高频功率比，交感-副交感平衡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HRV频域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82138">
                <a:tc>
                  <a:txBody>
                    <a:bodyPr/>
                    <a:lstStyle/>
                    <a:p>
                      <a:pPr>
                        <a:defRPr sz="900" b="1"/>
                      </a:pPr>
                      <a:r>
                        <a:t>perfusion_index</a:t>
                      </a:r>
                    </a:p>
                  </a:txBody>
                  <a:tcPr>
                    <a:solidFill>
                      <a:srgbClr val="F0F5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灏注指数</a:t>
                      </a:r>
                    </a:p>
                  </a:txBody>
                  <a:tcPr>
                    <a:solidFill>
                      <a:srgbClr val="F0F5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PPG信号振幅百分位比</a:t>
                      </a:r>
                    </a:p>
                  </a:txBody>
                  <a:tcPr>
                    <a:solidFill>
                      <a:srgbClr val="F0F5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血管功能</a:t>
                      </a:r>
                    </a:p>
                  </a:txBody>
                  <a:tcPr>
                    <a:solidFill>
                      <a:srgbClr val="F0F5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82138">
                <a:tc>
                  <a:txBody>
                    <a:bodyPr/>
                    <a:lstStyle/>
                    <a:p>
                      <a:pPr>
                        <a:defRPr sz="900" b="1"/>
                      </a:pPr>
                      <a:r>
                        <a:t>augmentation_index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增强指数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反射波与入射波幅值比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动脉功能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82138">
                <a:tc>
                  <a:txBody>
                    <a:bodyPr/>
                    <a:lstStyle/>
                    <a:p>
                      <a:pPr>
                        <a:defRPr sz="900" b="1"/>
                      </a:pPr>
                      <a:r>
                        <a:t>primary_reflected_peak_delay_ms</a:t>
                      </a:r>
                    </a:p>
                  </a:txBody>
                  <a:tcPr>
                    <a:solidFill>
                      <a:srgbClr val="F0F5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反射峰延迟</a:t>
                      </a:r>
                    </a:p>
                  </a:txBody>
                  <a:tcPr>
                    <a:solidFill>
                      <a:srgbClr val="F0F5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入射波到反射波的时间差</a:t>
                      </a:r>
                    </a:p>
                  </a:txBody>
                  <a:tcPr>
                    <a:solidFill>
                      <a:srgbClr val="F0F5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血管功能</a:t>
                      </a:r>
                    </a:p>
                  </a:txBody>
                  <a:tcPr>
                    <a:solidFill>
                      <a:srgbClr val="F0F5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82138">
                <a:tc>
                  <a:txBody>
                    <a:bodyPr/>
                    <a:lstStyle/>
                    <a:p>
                      <a:pPr>
                        <a:defRPr sz="900" b="1"/>
                      </a:pPr>
                      <a:r>
                        <a:t>st_deviation_mv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ST段偏移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ECG ST段偏移量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ECG (NaN)</a:t>
                      </a:r>
                    </a:p>
                  </a:txBody>
                  <a:tcPr>
                    <a:solidFill>
                      <a:srgbClr val="FF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82138">
                <a:tc>
                  <a:txBody>
                    <a:bodyPr/>
                    <a:lstStyle/>
                    <a:p>
                      <a:pPr>
                        <a:defRPr sz="900" b="1"/>
                      </a:pPr>
                      <a:r>
                        <a:t>qtc_ms</a:t>
                      </a:r>
                    </a:p>
                  </a:txBody>
                  <a:tcPr>
                    <a:solidFill>
                      <a:srgbClr val="F0F5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QTc间期</a:t>
                      </a:r>
                    </a:p>
                  </a:txBody>
                  <a:tcPr>
                    <a:solidFill>
                      <a:srgbClr val="F0F5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校正QT间期</a:t>
                      </a:r>
                    </a:p>
                  </a:txBody>
                  <a:tcPr>
                    <a:solidFill>
                      <a:srgbClr val="F0F5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ECG (NaN)</a:t>
                      </a:r>
                    </a:p>
                  </a:txBody>
                  <a:tcPr>
                    <a:solidFill>
                      <a:srgbClr val="FF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482140">
                <a:tc>
                  <a:txBody>
                    <a:bodyPr/>
                    <a:lstStyle/>
                    <a:p>
                      <a:pPr>
                        <a:defRPr sz="900" b="1"/>
                      </a:pPr>
                      <a:r>
                        <a:t>pulse_transit_time_ms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脉搏传导时间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ECG到PPG的时间差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ECG (NaN)</a:t>
                      </a:r>
                    </a:p>
                  </a:txBody>
                  <a:tcPr>
                    <a:solidFill>
                      <a:srgbClr val="FF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03366"/>
                </a:solidFill>
              </a:defRPr>
            </a:pPr>
            <a:r>
              <a:t>六、结论与建议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282828"/>
                </a:solidFill>
              </a:defRPr>
            </a:pPr>
            <a:r>
              <a:t>1. 基线AUC = 0.8043 (±0.0392)，仅使用7个PPG特征取得合理基线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27632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282828"/>
                </a:solidFill>
              </a:defRPr>
            </a:pPr>
            <a:r>
              <a:t>2. 数据严重不平衡: CAD阳性仅37例(4.1%)，需关注假阴性风险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066543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282828"/>
                </a:solidFill>
              </a:defRPr>
            </a:pPr>
            <a:r>
              <a:t>3. 3个ECG特征全部缺失（前瞻性数据无ECG），未来需补充ECG采集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505456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282828"/>
                </a:solidFill>
              </a:defRPr>
            </a:pPr>
            <a:r>
              <a:t>4. Fold间AUC波动较大(0.74~0.86)，受小样本和类别不平衡影响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944368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282828"/>
                </a:solidFill>
              </a:defRPr>
            </a:pP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03366"/>
                </a:solidFill>
              </a:defRPr>
            </a:pPr>
            <a:r>
              <a:t>七、模型配置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282828"/>
                </a:solidFill>
              </a:defRPr>
            </a:pPr>
            <a:r>
              <a:t>模型类型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474720" y="118872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282828"/>
                </a:solidFill>
              </a:defRPr>
            </a:pPr>
            <a:r>
              <a:t>XGBClassifier (XGBoost)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282828"/>
                </a:solidFill>
              </a:defRPr>
            </a:pPr>
            <a:r>
              <a:t>max_depth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474720" y="164592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282828"/>
                </a:solidFill>
              </a:defRPr>
            </a:pPr>
            <a:r>
              <a:t>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10312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282828"/>
                </a:solidFill>
              </a:defRPr>
            </a:pPr>
            <a:r>
              <a:t>n_estimators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474720" y="210312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282828"/>
                </a:solidFill>
              </a:defRPr>
            </a:pPr>
            <a:r>
              <a:t>300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56032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282828"/>
                </a:solidFill>
              </a:defRPr>
            </a:pPr>
            <a:r>
              <a:t>learning_rate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74720" y="256032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282828"/>
                </a:solidFill>
              </a:defRPr>
            </a:pPr>
            <a:r>
              <a:t>0.04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301752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282828"/>
                </a:solidFill>
              </a:defRPr>
            </a:pPr>
            <a:r>
              <a:t>subsample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74720" y="301752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282828"/>
                </a:solidFill>
              </a:defRPr>
            </a:pPr>
            <a:r>
              <a:t>0.8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347472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282828"/>
                </a:solidFill>
              </a:defRPr>
            </a:pPr>
            <a:r>
              <a:t>colsample_bytree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74720" y="347472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282828"/>
                </a:solidFill>
              </a:defRPr>
            </a:pPr>
            <a:r>
              <a:t>0.8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393192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282828"/>
                </a:solidFill>
              </a:defRPr>
            </a:pPr>
            <a:r>
              <a:t>eval_metric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74720" y="393192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282828"/>
                </a:solidFill>
              </a:defRPr>
            </a:pPr>
            <a:r>
              <a:t>logloss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438912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282828"/>
                </a:solidFill>
              </a:defRPr>
            </a:pPr>
            <a:r>
              <a:t>缺失值处理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474720" y="438912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282828"/>
                </a:solidFill>
              </a:defRPr>
            </a:pPr>
            <a:r>
              <a:t>SimpleImputer (median + indicator)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484632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282828"/>
                </a:solidFill>
              </a:defRPr>
            </a:pPr>
            <a:r>
              <a:t>交叉验证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474720" y="484632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282828"/>
                </a:solidFill>
              </a:defRPr>
            </a:pPr>
            <a:r>
              <a:t>StratifiedKFold, n_splits=5, shuffle=True, random_state=42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530352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282828"/>
                </a:solidFill>
              </a:defRPr>
            </a:pPr>
            <a:r>
              <a:t>数据划分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474720" y="530352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282828"/>
                </a:solidFill>
              </a:defRPr>
            </a:pPr>
            <a:r>
              <a:t>分层抽样，每折约182样本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570</Words>
  <Application>Microsoft Office PowerPoint</Application>
  <PresentationFormat>自定义</PresentationFormat>
  <Paragraphs>220</Paragraphs>
  <Slides>8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瑞锋 赵</cp:lastModifiedBy>
  <cp:revision>2</cp:revision>
  <dcterms:created xsi:type="dcterms:W3CDTF">2013-01-27T09:14:16Z</dcterms:created>
  <dcterms:modified xsi:type="dcterms:W3CDTF">2026-09-10T02:19:14Z</dcterms:modified>
  <cp:category/>
</cp:coreProperties>
</file>